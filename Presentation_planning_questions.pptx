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ask in one line: a unified DO App Support Center (DOASC) for our app portfolio; Quackback is how we build it. Twenty minutes: the mission, the problem, the solution, the return,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mission. Every DO app is a piece of how work gets done here. The portfolio keeps growing, and each new app arrives with its own way of getting help. App names and channels are illustrative; swap in real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with internal examples before presenting. Support for each app lives in its own channels, so employees route their own issues and nobody sees the whole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cost, in four voices. Quotes are illustrative; replace with real ones from internal interviews if available. Each voice maps to a need the platform must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the DO App Support Center: one front door for every DO app. Walk the prototype: search, ticket, tiered resolution on one clock, approved fixes in the connected app, feedback into the roadmap. Quackback is how we build it, covered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people, same layout, after DOASC. Each line answers the corresponding voice from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looks like when finished: every DO app has the same branded support center; agents share tiers and approvals; product teams share a prioritization method; the control tower sees and administers all of it inside company 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in three outcomes, each tied to a strategic priority and to the measures we will track. No baseline yet; Phase 1 captures it and the business case is quantified from it. Replace the priorities with the organization's real strategic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Quackback is how we build DOASC, not the product. It already provides the employee, support, and feedback building blocks. We add six extensions on top and maintain our own fork, testing compatibility as upstream evolves.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inside the company network on private AWS. Upstream Quackback stays outside; we pull changes through our fork with compatibility tests. Upgrades and recovery are validated on populated environments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overlap deliberately; tower infrastructure and integration discovery start in Phase 1. Every release passes security, recovery, and upgrade gates. We pilot with selected apps before expanding. Estimates follow the initial validations.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Three decisions today; remaining product decisions and delivery estimates return after the initial validations in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90600" y="838200"/>
            <a:ext cx="913638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5B4FC"/>
                </a:solidFill>
                <a:latin typeface="Arial" pitchFamily="34" charset="0"/>
                <a:ea typeface="Arial" pitchFamily="34" charset="-122"/>
                <a:cs typeface="Arial" pitchFamily="34" charset="-120"/>
              </a:rPr>
              <a:t>EXECUTIVE BRIEFING</a:t>
            </a:r>
            <a:endParaRPr lang="en-US" sz="1800" dirty="0"/>
          </a:p>
        </p:txBody>
      </p:sp>
      <p:sp>
        <p:nvSpPr>
          <p:cNvPr id="3" name="Text 1"/>
          <p:cNvSpPr/>
          <p:nvPr/>
        </p:nvSpPr>
        <p:spPr>
          <a:xfrm>
            <a:off x="990600" y="3415382"/>
            <a:ext cx="8554974" cy="1939975"/>
          </a:xfrm>
          <a:prstGeom prst="rect">
            <a:avLst/>
          </a:prstGeom>
          <a:noFill/>
          <a:ln/>
        </p:spPr>
        <p:txBody>
          <a:bodyPr wrap="square" lIns="25400" tIns="25400" rIns="25400" bIns="25400" rtlCol="0" anchor="t">
            <a:normAutofit/>
          </a:bodyPr>
          <a:lstStyle/>
          <a:p>
            <a:pPr algn="l" indent="0" marL="0">
              <a:lnSpc>
                <a:spcPct val="83548"/>
              </a:lnSpc>
              <a:buNone/>
            </a:pPr>
            <a:r>
              <a:rPr lang="en-US" sz="7800" b="1" spc="-312" kern="0" dirty="0">
                <a:solidFill>
                  <a:srgbClr val="FFFFFF"/>
                </a:solidFill>
                <a:latin typeface="Arial" pitchFamily="34" charset="0"/>
                <a:ea typeface="Arial" pitchFamily="34" charset="-122"/>
                <a:cs typeface="Arial" pitchFamily="34" charset="-120"/>
              </a:rPr>
              <a:t>One support center for every DO app</a:t>
            </a:r>
            <a:endParaRPr lang="en-US" sz="7800" dirty="0"/>
          </a:p>
        </p:txBody>
      </p:sp>
      <p:sp>
        <p:nvSpPr>
          <p:cNvPr id="4" name="Text 2"/>
          <p:cNvSpPr/>
          <p:nvPr/>
        </p:nvSpPr>
        <p:spPr>
          <a:xfrm>
            <a:off x="990600" y="5660157"/>
            <a:ext cx="8554974" cy="134964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CBD5E1"/>
                </a:solidFill>
                <a:latin typeface="Arial" pitchFamily="34" charset="0"/>
                <a:ea typeface="Arial" pitchFamily="34" charset="-122"/>
                <a:cs typeface="Arial" pitchFamily="34" charset="-120"/>
              </a:rPr>
              <a:t>The DO App Support Center (DOASC): a unified place for employee support, controlled resolution, and product feedback.</a:t>
            </a:r>
            <a:endParaRPr lang="en-US" sz="2550" dirty="0"/>
          </a:p>
        </p:txBody>
      </p:sp>
      <p:sp>
        <p:nvSpPr>
          <p:cNvPr id="5" name="Text 3"/>
          <p:cNvSpPr/>
          <p:nvPr/>
        </p:nvSpPr>
        <p:spPr>
          <a:xfrm>
            <a:off x="990600" y="9286875"/>
            <a:ext cx="2462949" cy="352425"/>
          </a:xfrm>
          <a:prstGeom prst="rect">
            <a:avLst/>
          </a:prstGeom>
          <a:noFill/>
          <a:ln/>
        </p:spPr>
        <p:txBody>
          <a:bodyPr wrap="square" lIns="25400" tIns="25400" rIns="25400" bIns="25400" rtlCol="0" anchor="t">
            <a:normAutofit/>
          </a:bodyPr>
          <a:lstStyle/>
          <a:p>
            <a:pPr algn="l" indent="0" marL="0">
              <a:buNone/>
            </a:pPr>
            <a:r>
              <a:rPr lang="en-US" sz="1950" dirty="0">
                <a:solidFill>
                  <a:srgbClr val="94A3B8"/>
                </a:solidFill>
                <a:latin typeface="Arial" pitchFamily="34" charset="0"/>
                <a:ea typeface="Arial" pitchFamily="34" charset="-122"/>
                <a:cs typeface="Arial" pitchFamily="34" charset="-120"/>
              </a:rPr>
              <a:t>Proposal for review</a:t>
            </a:r>
            <a:endParaRPr lang="en-US" sz="1950" dirty="0"/>
          </a:p>
        </p:txBody>
      </p:sp>
      <p:sp>
        <p:nvSpPr>
          <p:cNvPr id="6" name="Text 4"/>
          <p:cNvSpPr/>
          <p:nvPr/>
        </p:nvSpPr>
        <p:spPr>
          <a:xfrm>
            <a:off x="8012534" y="9286875"/>
            <a:ext cx="1412252" cy="352425"/>
          </a:xfrm>
          <a:prstGeom prst="rect">
            <a:avLst/>
          </a:prstGeom>
          <a:noFill/>
          <a:ln/>
        </p:spPr>
        <p:txBody>
          <a:bodyPr wrap="square" lIns="25400" tIns="25400" rIns="25400" bIns="25400" rtlCol="0" anchor="t">
            <a:normAutofit/>
          </a:bodyPr>
          <a:lstStyle/>
          <a:p>
            <a:pPr algn="l" indent="0" marL="0">
              <a:buNone/>
            </a:pPr>
            <a:r>
              <a:rPr lang="en-US" sz="1950" dirty="0">
                <a:solidFill>
                  <a:srgbClr val="94A3B8"/>
                </a:solidFill>
                <a:latin typeface="Arial" pitchFamily="34" charset="0"/>
                <a:ea typeface="Arial" pitchFamily="34" charset="-122"/>
                <a:cs typeface="Arial" pitchFamily="34" charset="-120"/>
              </a:rPr>
              <a:t>20 minutes</a:t>
            </a:r>
            <a:endParaRPr lang="en-US" sz="1950" dirty="0"/>
          </a:p>
        </p:txBody>
      </p:sp>
      <p:sp>
        <p:nvSpPr>
          <p:cNvPr id="7" name="Shape 5"/>
          <p:cNvSpPr/>
          <p:nvPr/>
        </p:nvSpPr>
        <p:spPr>
          <a:xfrm>
            <a:off x="10058400" y="1790700"/>
            <a:ext cx="7239000" cy="6858000"/>
          </a:xfrm>
          <a:prstGeom prst="roundRect">
            <a:avLst>
              <a:gd name="adj" fmla="val 2778"/>
            </a:avLst>
          </a:prstGeom>
          <a:solidFill>
            <a:srgbClr val="FFFFFF"/>
          </a:solidFill>
          <a:ln/>
          <a:effectLst>
            <a:outerShdw sx="100000" sy="100000" kx="0" ky="0" algn="bl" rotWithShape="0" blurRad="762000" dist="285750" dir="5400000">
              <a:srgbClr val="000000">
                <a:alpha val="40000"/>
              </a:srgbClr>
            </a:outerShdw>
          </a:effectLst>
        </p:spPr>
      </p:sp>
      <p:sp>
        <p:nvSpPr>
          <p:cNvPr id="8" name="Shape 6"/>
          <p:cNvSpPr/>
          <p:nvPr/>
        </p:nvSpPr>
        <p:spPr>
          <a:xfrm>
            <a:off x="10058400" y="2581275"/>
            <a:ext cx="7239000" cy="9525"/>
          </a:xfrm>
          <a:prstGeom prst="rect">
            <a:avLst/>
          </a:prstGeom>
          <a:solidFill>
            <a:srgbClr val="E2E8F0"/>
          </a:solidFill>
          <a:ln/>
        </p:spPr>
      </p:sp>
      <p:sp>
        <p:nvSpPr>
          <p:cNvPr id="9" name="Shape 7"/>
          <p:cNvSpPr/>
          <p:nvPr/>
        </p:nvSpPr>
        <p:spPr>
          <a:xfrm>
            <a:off x="10287000" y="2119313"/>
            <a:ext cx="133350" cy="133350"/>
          </a:xfrm>
          <a:prstGeom prst="ellipse">
            <a:avLst/>
          </a:prstGeom>
          <a:solidFill>
            <a:srgbClr val="E2E8F0"/>
          </a:solidFill>
          <a:ln/>
        </p:spPr>
      </p:sp>
      <p:sp>
        <p:nvSpPr>
          <p:cNvPr id="10" name="Shape 8"/>
          <p:cNvSpPr/>
          <p:nvPr/>
        </p:nvSpPr>
        <p:spPr>
          <a:xfrm>
            <a:off x="10515600" y="2119313"/>
            <a:ext cx="133350" cy="133350"/>
          </a:xfrm>
          <a:prstGeom prst="ellipse">
            <a:avLst/>
          </a:prstGeom>
          <a:solidFill>
            <a:srgbClr val="E2E8F0"/>
          </a:solidFill>
          <a:ln/>
        </p:spPr>
      </p:sp>
      <p:sp>
        <p:nvSpPr>
          <p:cNvPr id="11" name="Shape 9"/>
          <p:cNvSpPr/>
          <p:nvPr/>
        </p:nvSpPr>
        <p:spPr>
          <a:xfrm>
            <a:off x="10744200" y="2119313"/>
            <a:ext cx="133350" cy="133350"/>
          </a:xfrm>
          <a:prstGeom prst="ellipse">
            <a:avLst/>
          </a:prstGeom>
          <a:solidFill>
            <a:srgbClr val="E2E8F0"/>
          </a:solidFill>
          <a:ln/>
        </p:spPr>
      </p:sp>
      <p:sp>
        <p:nvSpPr>
          <p:cNvPr id="12" name="Shape 10"/>
          <p:cNvSpPr/>
          <p:nvPr/>
        </p:nvSpPr>
        <p:spPr>
          <a:xfrm>
            <a:off x="11201400" y="1962150"/>
            <a:ext cx="5867400" cy="447675"/>
          </a:xfrm>
          <a:prstGeom prst="roundRect">
            <a:avLst>
              <a:gd name="adj" fmla="val 17021"/>
            </a:avLst>
          </a:prstGeom>
          <a:solidFill>
            <a:srgbClr val="F1F5F9"/>
          </a:solidFill>
          <a:ln/>
        </p:spPr>
      </p:sp>
      <p:sp>
        <p:nvSpPr>
          <p:cNvPr id="13" name="Text 11"/>
          <p:cNvSpPr/>
          <p:nvPr/>
        </p:nvSpPr>
        <p:spPr>
          <a:xfrm>
            <a:off x="11391900" y="2038350"/>
            <a:ext cx="566242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support.do.internal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0F4"/>
        </a:solidFill>
      </p:bgPr>
    </p:bg>
    <p:spTree>
      <p:nvGrpSpPr>
        <p:cNvPr id="1" name=""/>
        <p:cNvGrpSpPr/>
        <p:nvPr/>
      </p:nvGrpSpPr>
      <p:grpSpPr>
        <a:xfrm>
          <a:off x="0" y="0"/>
          <a:ext cx="0" cy="0"/>
          <a:chOff x="0" y="0"/>
          <a:chExt cx="0" cy="0"/>
        </a:xfrm>
      </p:grpSpPr>
      <p:sp>
        <p:nvSpPr>
          <p:cNvPr id="2" name="Text 0"/>
          <p:cNvSpPr/>
          <p:nvPr/>
        </p:nvSpPr>
        <p:spPr>
          <a:xfrm>
            <a:off x="990600" y="838200"/>
            <a:ext cx="1793748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01 · THE MISSION RUNS ON DO APPS</a:t>
            </a:r>
            <a:endParaRPr lang="en-US" sz="1800" dirty="0"/>
          </a:p>
        </p:txBody>
      </p:sp>
      <p:sp>
        <p:nvSpPr>
          <p:cNvPr id="3" name="Text 1"/>
          <p:cNvSpPr/>
          <p:nvPr/>
        </p:nvSpPr>
        <p:spPr>
          <a:xfrm>
            <a:off x="990600" y="1366838"/>
            <a:ext cx="14716125" cy="1531590"/>
          </a:xfrm>
          <a:prstGeom prst="rect">
            <a:avLst/>
          </a:prstGeom>
          <a:noFill/>
          <a:ln/>
        </p:spPr>
        <p:txBody>
          <a:bodyPr wrap="square" lIns="25400" tIns="25400" rIns="25400" bIns="25400" rtlCol="0" anchor="t">
            <a:normAutofit/>
          </a:bodyPr>
          <a:lstStyle/>
          <a:p>
            <a:pPr algn="l" indent="0" marL="0">
              <a:lnSpc>
                <a:spcPct val="85217"/>
              </a:lnSpc>
              <a:buNone/>
            </a:pPr>
            <a:r>
              <a:rPr lang="en-US" sz="6000" b="1" spc="-240" kern="0" dirty="0">
                <a:solidFill>
                  <a:srgbClr val="0F172A"/>
                </a:solidFill>
                <a:latin typeface="Arial" pitchFamily="34" charset="0"/>
                <a:ea typeface="Arial" pitchFamily="34" charset="-122"/>
                <a:cs typeface="Arial" pitchFamily="34" charset="-120"/>
              </a:rPr>
              <a:t>Every new app helps the mission. Every new app also brings its own way to get help.</a:t>
            </a:r>
            <a:endParaRPr lang="en-US" sz="6000" dirty="0"/>
          </a:p>
        </p:txBody>
      </p:sp>
      <p:sp>
        <p:nvSpPr>
          <p:cNvPr id="4" name="Text 2"/>
          <p:cNvSpPr/>
          <p:nvPr/>
        </p:nvSpPr>
        <p:spPr>
          <a:xfrm>
            <a:off x="990600" y="6021735"/>
            <a:ext cx="1793748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4748B"/>
                </a:solidFill>
                <a:latin typeface="Arial" pitchFamily="34" charset="0"/>
                <a:ea typeface="Arial" pitchFamily="34" charset="-122"/>
                <a:cs typeface="Arial" pitchFamily="34" charset="-120"/>
              </a:rPr>
              <a:t>DO APP PORTFOLIO · GROWING</a:t>
            </a:r>
            <a:endParaRPr lang="en-US" sz="1800" dirty="0"/>
          </a:p>
        </p:txBody>
      </p:sp>
      <p:sp>
        <p:nvSpPr>
          <p:cNvPr id="5" name="Shape 3"/>
          <p:cNvSpPr/>
          <p:nvPr/>
        </p:nvSpPr>
        <p:spPr>
          <a:xfrm>
            <a:off x="990600" y="6455122"/>
            <a:ext cx="1921669" cy="781050"/>
          </a:xfrm>
          <a:prstGeom prst="roundRect">
            <a:avLst>
              <a:gd name="adj" fmla="val 17073"/>
            </a:avLst>
          </a:prstGeom>
          <a:solidFill>
            <a:srgbClr val="4F46E5"/>
          </a:solidFill>
          <a:ln/>
        </p:spPr>
      </p:sp>
      <p:sp>
        <p:nvSpPr>
          <p:cNvPr id="6" name="Text 4"/>
          <p:cNvSpPr/>
          <p:nvPr/>
        </p:nvSpPr>
        <p:spPr>
          <a:xfrm>
            <a:off x="1181100" y="6702772"/>
            <a:ext cx="161686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Access</a:t>
            </a:r>
            <a:endParaRPr lang="en-US" sz="1950" dirty="0"/>
          </a:p>
        </p:txBody>
      </p:sp>
      <p:sp>
        <p:nvSpPr>
          <p:cNvPr id="7" name="Shape 5"/>
          <p:cNvSpPr/>
          <p:nvPr/>
        </p:nvSpPr>
        <p:spPr>
          <a:xfrm>
            <a:off x="3045619" y="6455122"/>
            <a:ext cx="1921669" cy="781050"/>
          </a:xfrm>
          <a:prstGeom prst="roundRect">
            <a:avLst>
              <a:gd name="adj" fmla="val 17073"/>
            </a:avLst>
          </a:prstGeom>
          <a:solidFill>
            <a:srgbClr val="4F46E5"/>
          </a:solidFill>
          <a:ln/>
        </p:spPr>
      </p:sp>
      <p:sp>
        <p:nvSpPr>
          <p:cNvPr id="8" name="Text 6"/>
          <p:cNvSpPr/>
          <p:nvPr/>
        </p:nvSpPr>
        <p:spPr>
          <a:xfrm>
            <a:off x="3236119" y="6702772"/>
            <a:ext cx="161686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Payroll</a:t>
            </a:r>
            <a:endParaRPr lang="en-US" sz="1950" dirty="0"/>
          </a:p>
        </p:txBody>
      </p:sp>
      <p:sp>
        <p:nvSpPr>
          <p:cNvPr id="9" name="Shape 7"/>
          <p:cNvSpPr/>
          <p:nvPr/>
        </p:nvSpPr>
        <p:spPr>
          <a:xfrm>
            <a:off x="5100638" y="6455122"/>
            <a:ext cx="1921669" cy="781050"/>
          </a:xfrm>
          <a:prstGeom prst="roundRect">
            <a:avLst>
              <a:gd name="adj" fmla="val 17073"/>
            </a:avLst>
          </a:prstGeom>
          <a:solidFill>
            <a:srgbClr val="4F46E5"/>
          </a:solidFill>
          <a:ln/>
        </p:spPr>
      </p:sp>
      <p:sp>
        <p:nvSpPr>
          <p:cNvPr id="10" name="Text 8"/>
          <p:cNvSpPr/>
          <p:nvPr/>
        </p:nvSpPr>
        <p:spPr>
          <a:xfrm>
            <a:off x="5291138" y="6702772"/>
            <a:ext cx="161686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Expenses</a:t>
            </a:r>
            <a:endParaRPr lang="en-US" sz="1950" dirty="0"/>
          </a:p>
        </p:txBody>
      </p:sp>
      <p:sp>
        <p:nvSpPr>
          <p:cNvPr id="11" name="Shape 9"/>
          <p:cNvSpPr/>
          <p:nvPr/>
        </p:nvSpPr>
        <p:spPr>
          <a:xfrm>
            <a:off x="7155656" y="6455122"/>
            <a:ext cx="1921669" cy="781050"/>
          </a:xfrm>
          <a:prstGeom prst="roundRect">
            <a:avLst>
              <a:gd name="adj" fmla="val 17073"/>
            </a:avLst>
          </a:prstGeom>
          <a:solidFill>
            <a:srgbClr val="4F46E5"/>
          </a:solidFill>
          <a:ln/>
        </p:spPr>
      </p:sp>
      <p:sp>
        <p:nvSpPr>
          <p:cNvPr id="12" name="Text 10"/>
          <p:cNvSpPr/>
          <p:nvPr/>
        </p:nvSpPr>
        <p:spPr>
          <a:xfrm>
            <a:off x="7346156" y="6702772"/>
            <a:ext cx="161686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Travel</a:t>
            </a:r>
            <a:endParaRPr lang="en-US" sz="1950" dirty="0"/>
          </a:p>
        </p:txBody>
      </p:sp>
      <p:sp>
        <p:nvSpPr>
          <p:cNvPr id="13" name="Shape 11"/>
          <p:cNvSpPr/>
          <p:nvPr/>
        </p:nvSpPr>
        <p:spPr>
          <a:xfrm>
            <a:off x="9210675" y="6455122"/>
            <a:ext cx="1921669" cy="781050"/>
          </a:xfrm>
          <a:prstGeom prst="roundRect">
            <a:avLst>
              <a:gd name="adj" fmla="val 17073"/>
            </a:avLst>
          </a:prstGeom>
          <a:solidFill>
            <a:srgbClr val="4F46E5"/>
          </a:solidFill>
          <a:ln/>
        </p:spPr>
      </p:sp>
      <p:sp>
        <p:nvSpPr>
          <p:cNvPr id="14" name="Text 12"/>
          <p:cNvSpPr/>
          <p:nvPr/>
        </p:nvSpPr>
        <p:spPr>
          <a:xfrm>
            <a:off x="9401175" y="6702772"/>
            <a:ext cx="161686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Onboarding</a:t>
            </a:r>
            <a:endParaRPr lang="en-US" sz="1950" dirty="0"/>
          </a:p>
        </p:txBody>
      </p:sp>
      <p:sp>
        <p:nvSpPr>
          <p:cNvPr id="15" name="Shape 13"/>
          <p:cNvSpPr/>
          <p:nvPr/>
        </p:nvSpPr>
        <p:spPr>
          <a:xfrm>
            <a:off x="11265694" y="6455122"/>
            <a:ext cx="1921669" cy="781050"/>
          </a:xfrm>
          <a:prstGeom prst="roundRect">
            <a:avLst>
              <a:gd name="adj" fmla="val 17073"/>
            </a:avLst>
          </a:prstGeom>
          <a:solidFill>
            <a:srgbClr val="4F46E5"/>
          </a:solidFill>
          <a:ln/>
        </p:spPr>
      </p:sp>
      <p:sp>
        <p:nvSpPr>
          <p:cNvPr id="16" name="Text 14"/>
          <p:cNvSpPr/>
          <p:nvPr/>
        </p:nvSpPr>
        <p:spPr>
          <a:xfrm>
            <a:off x="11456194" y="6702772"/>
            <a:ext cx="161686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Facilities</a:t>
            </a:r>
            <a:endParaRPr lang="en-US" sz="1950" dirty="0"/>
          </a:p>
        </p:txBody>
      </p:sp>
      <p:sp>
        <p:nvSpPr>
          <p:cNvPr id="17" name="Shape 15"/>
          <p:cNvSpPr/>
          <p:nvPr/>
        </p:nvSpPr>
        <p:spPr>
          <a:xfrm>
            <a:off x="13320713" y="6455122"/>
            <a:ext cx="1921669" cy="781050"/>
          </a:xfrm>
          <a:prstGeom prst="roundRect">
            <a:avLst>
              <a:gd name="adj" fmla="val 17073"/>
            </a:avLst>
          </a:prstGeom>
          <a:solidFill>
            <a:srgbClr val="6366F1"/>
          </a:solidFill>
          <a:ln/>
        </p:spPr>
      </p:sp>
      <p:sp>
        <p:nvSpPr>
          <p:cNvPr id="18" name="Text 16"/>
          <p:cNvSpPr/>
          <p:nvPr/>
        </p:nvSpPr>
        <p:spPr>
          <a:xfrm>
            <a:off x="13511213" y="6702772"/>
            <a:ext cx="161686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Procurement</a:t>
            </a:r>
            <a:endParaRPr lang="en-US" sz="1950" dirty="0"/>
          </a:p>
        </p:txBody>
      </p:sp>
      <p:sp>
        <p:nvSpPr>
          <p:cNvPr id="19" name="Shape 17"/>
          <p:cNvSpPr/>
          <p:nvPr/>
        </p:nvSpPr>
        <p:spPr>
          <a:xfrm>
            <a:off x="15375731" y="6455122"/>
            <a:ext cx="1921669" cy="781050"/>
          </a:xfrm>
          <a:prstGeom prst="roundRect">
            <a:avLst>
              <a:gd name="adj" fmla="val 17073"/>
            </a:avLst>
          </a:prstGeom>
          <a:ln w="19050">
            <a:solidFill>
              <a:srgbClr val="A5B4FC"/>
            </a:solidFill>
            <a:prstDash val="dash"/>
          </a:ln>
        </p:spPr>
      </p:sp>
      <p:sp>
        <p:nvSpPr>
          <p:cNvPr id="20" name="Text 18"/>
          <p:cNvSpPr/>
          <p:nvPr/>
        </p:nvSpPr>
        <p:spPr>
          <a:xfrm>
            <a:off x="15585281" y="6702772"/>
            <a:ext cx="157876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46E5"/>
                </a:solidFill>
                <a:latin typeface="Arial" pitchFamily="34" charset="0"/>
                <a:ea typeface="Arial" pitchFamily="34" charset="-122"/>
                <a:cs typeface="Arial" pitchFamily="34" charset="-120"/>
              </a:rPr>
              <a:t>Next app</a:t>
            </a:r>
            <a:endParaRPr lang="en-US" sz="1950" dirty="0"/>
          </a:p>
        </p:txBody>
      </p:sp>
      <p:sp>
        <p:nvSpPr>
          <p:cNvPr id="21" name="Shape 19"/>
          <p:cNvSpPr/>
          <p:nvPr/>
        </p:nvSpPr>
        <p:spPr>
          <a:xfrm>
            <a:off x="1941909" y="7236172"/>
            <a:ext cx="19050" cy="419100"/>
          </a:xfrm>
          <a:prstGeom prst="rect">
            <a:avLst/>
          </a:prstGeom>
          <a:solidFill>
            <a:srgbClr val="94A3B8"/>
          </a:solidFill>
          <a:ln/>
        </p:spPr>
      </p:sp>
      <p:sp>
        <p:nvSpPr>
          <p:cNvPr id="22" name="Shape 20"/>
          <p:cNvSpPr/>
          <p:nvPr/>
        </p:nvSpPr>
        <p:spPr>
          <a:xfrm>
            <a:off x="3996928" y="7236172"/>
            <a:ext cx="19050" cy="419100"/>
          </a:xfrm>
          <a:prstGeom prst="rect">
            <a:avLst/>
          </a:prstGeom>
          <a:solidFill>
            <a:srgbClr val="94A3B8"/>
          </a:solidFill>
          <a:ln/>
        </p:spPr>
      </p:sp>
      <p:sp>
        <p:nvSpPr>
          <p:cNvPr id="23" name="Shape 21"/>
          <p:cNvSpPr/>
          <p:nvPr/>
        </p:nvSpPr>
        <p:spPr>
          <a:xfrm>
            <a:off x="6051947" y="7236172"/>
            <a:ext cx="19050" cy="419100"/>
          </a:xfrm>
          <a:prstGeom prst="rect">
            <a:avLst/>
          </a:prstGeom>
          <a:solidFill>
            <a:srgbClr val="94A3B8"/>
          </a:solidFill>
          <a:ln/>
        </p:spPr>
      </p:sp>
      <p:sp>
        <p:nvSpPr>
          <p:cNvPr id="24" name="Shape 22"/>
          <p:cNvSpPr/>
          <p:nvPr/>
        </p:nvSpPr>
        <p:spPr>
          <a:xfrm>
            <a:off x="8106966" y="7236172"/>
            <a:ext cx="19050" cy="419100"/>
          </a:xfrm>
          <a:prstGeom prst="rect">
            <a:avLst/>
          </a:prstGeom>
          <a:solidFill>
            <a:srgbClr val="94A3B8"/>
          </a:solidFill>
          <a:ln/>
        </p:spPr>
      </p:sp>
      <p:sp>
        <p:nvSpPr>
          <p:cNvPr id="25" name="Shape 23"/>
          <p:cNvSpPr/>
          <p:nvPr/>
        </p:nvSpPr>
        <p:spPr>
          <a:xfrm>
            <a:off x="10161984" y="7236172"/>
            <a:ext cx="19050" cy="419100"/>
          </a:xfrm>
          <a:prstGeom prst="rect">
            <a:avLst/>
          </a:prstGeom>
          <a:solidFill>
            <a:srgbClr val="94A3B8"/>
          </a:solidFill>
          <a:ln/>
        </p:spPr>
      </p:sp>
      <p:sp>
        <p:nvSpPr>
          <p:cNvPr id="26" name="Shape 24"/>
          <p:cNvSpPr/>
          <p:nvPr/>
        </p:nvSpPr>
        <p:spPr>
          <a:xfrm>
            <a:off x="12217003" y="7236172"/>
            <a:ext cx="19050" cy="419100"/>
          </a:xfrm>
          <a:prstGeom prst="rect">
            <a:avLst/>
          </a:prstGeom>
          <a:solidFill>
            <a:srgbClr val="94A3B8"/>
          </a:solidFill>
          <a:ln/>
        </p:spPr>
      </p:sp>
      <p:sp>
        <p:nvSpPr>
          <p:cNvPr id="27" name="Shape 25"/>
          <p:cNvSpPr/>
          <p:nvPr/>
        </p:nvSpPr>
        <p:spPr>
          <a:xfrm>
            <a:off x="14272022" y="7236172"/>
            <a:ext cx="19050" cy="419100"/>
          </a:xfrm>
          <a:prstGeom prst="rect">
            <a:avLst/>
          </a:prstGeom>
          <a:solidFill>
            <a:srgbClr val="94A3B8"/>
          </a:solidFill>
          <a:ln/>
        </p:spPr>
      </p:sp>
      <p:sp>
        <p:nvSpPr>
          <p:cNvPr id="28" name="Shape 26"/>
          <p:cNvSpPr/>
          <p:nvPr/>
        </p:nvSpPr>
        <p:spPr>
          <a:xfrm>
            <a:off x="16327041" y="7236172"/>
            <a:ext cx="19050" cy="419100"/>
          </a:xfrm>
          <a:prstGeom prst="rect">
            <a:avLst/>
          </a:prstGeom>
          <a:solidFill>
            <a:srgbClr val="94A3B8"/>
          </a:solidFill>
          <a:ln/>
        </p:spPr>
      </p:sp>
      <p:sp>
        <p:nvSpPr>
          <p:cNvPr id="29" name="Text 27"/>
          <p:cNvSpPr/>
          <p:nvPr/>
        </p:nvSpPr>
        <p:spPr>
          <a:xfrm>
            <a:off x="990600" y="7655272"/>
            <a:ext cx="2113836"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dirty="0">
                <a:solidFill>
                  <a:srgbClr val="475569"/>
                </a:solidFill>
                <a:latin typeface="Arial" pitchFamily="34" charset="0"/>
                <a:ea typeface="Arial" pitchFamily="34" charset="-122"/>
                <a:cs typeface="Arial" pitchFamily="34" charset="-120"/>
              </a:rPr>
              <a:t>Email the owner</a:t>
            </a:r>
            <a:endParaRPr lang="en-US" sz="1950" dirty="0"/>
          </a:p>
        </p:txBody>
      </p:sp>
      <p:sp>
        <p:nvSpPr>
          <p:cNvPr id="30" name="Text 28"/>
          <p:cNvSpPr/>
          <p:nvPr/>
        </p:nvSpPr>
        <p:spPr>
          <a:xfrm>
            <a:off x="3045619" y="7655272"/>
            <a:ext cx="2113836"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dirty="0">
                <a:solidFill>
                  <a:srgbClr val="475569"/>
                </a:solidFill>
                <a:latin typeface="Arial" pitchFamily="34" charset="0"/>
                <a:ea typeface="Arial" pitchFamily="34" charset="-122"/>
                <a:cs typeface="Arial" pitchFamily="34" charset="-120"/>
              </a:rPr>
              <a:t>Ticket tool</a:t>
            </a:r>
            <a:endParaRPr lang="en-US" sz="1950" dirty="0"/>
          </a:p>
        </p:txBody>
      </p:sp>
      <p:sp>
        <p:nvSpPr>
          <p:cNvPr id="31" name="Text 29"/>
          <p:cNvSpPr/>
          <p:nvPr/>
        </p:nvSpPr>
        <p:spPr>
          <a:xfrm>
            <a:off x="5100638" y="7655272"/>
            <a:ext cx="2113836"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dirty="0">
                <a:solidFill>
                  <a:srgbClr val="475569"/>
                </a:solidFill>
                <a:latin typeface="Arial" pitchFamily="34" charset="0"/>
                <a:ea typeface="Arial" pitchFamily="34" charset="-122"/>
                <a:cs typeface="Arial" pitchFamily="34" charset="-120"/>
              </a:rPr>
              <a:t>Shared inbox</a:t>
            </a:r>
            <a:endParaRPr lang="en-US" sz="1950" dirty="0"/>
          </a:p>
        </p:txBody>
      </p:sp>
      <p:sp>
        <p:nvSpPr>
          <p:cNvPr id="32" name="Text 30"/>
          <p:cNvSpPr/>
          <p:nvPr/>
        </p:nvSpPr>
        <p:spPr>
          <a:xfrm>
            <a:off x="7155656" y="7655272"/>
            <a:ext cx="2113836"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dirty="0">
                <a:solidFill>
                  <a:srgbClr val="475569"/>
                </a:solidFill>
                <a:latin typeface="Arial" pitchFamily="34" charset="0"/>
                <a:ea typeface="Arial" pitchFamily="34" charset="-122"/>
                <a:cs typeface="Arial" pitchFamily="34" charset="-120"/>
              </a:rPr>
              <a:t>Chat channel</a:t>
            </a:r>
            <a:endParaRPr lang="en-US" sz="1950" dirty="0"/>
          </a:p>
        </p:txBody>
      </p:sp>
      <p:sp>
        <p:nvSpPr>
          <p:cNvPr id="33" name="Text 31"/>
          <p:cNvSpPr/>
          <p:nvPr/>
        </p:nvSpPr>
        <p:spPr>
          <a:xfrm>
            <a:off x="9210675" y="7655272"/>
            <a:ext cx="2113836"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dirty="0">
                <a:solidFill>
                  <a:srgbClr val="475569"/>
                </a:solidFill>
                <a:latin typeface="Arial" pitchFamily="34" charset="0"/>
                <a:ea typeface="Arial" pitchFamily="34" charset="-122"/>
                <a:cs typeface="Arial" pitchFamily="34" charset="-120"/>
              </a:rPr>
              <a:t>Web form</a:t>
            </a:r>
            <a:endParaRPr lang="en-US" sz="1950" dirty="0"/>
          </a:p>
        </p:txBody>
      </p:sp>
      <p:sp>
        <p:nvSpPr>
          <p:cNvPr id="34" name="Text 32"/>
          <p:cNvSpPr/>
          <p:nvPr/>
        </p:nvSpPr>
        <p:spPr>
          <a:xfrm>
            <a:off x="11265694" y="7655272"/>
            <a:ext cx="2113836"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dirty="0">
                <a:solidFill>
                  <a:srgbClr val="475569"/>
                </a:solidFill>
                <a:latin typeface="Arial" pitchFamily="34" charset="0"/>
                <a:ea typeface="Arial" pitchFamily="34" charset="-122"/>
                <a:cs typeface="Arial" pitchFamily="34" charset="-120"/>
              </a:rPr>
              <a:t>Wiki page</a:t>
            </a:r>
            <a:endParaRPr lang="en-US" sz="1950" dirty="0"/>
          </a:p>
        </p:txBody>
      </p:sp>
      <p:sp>
        <p:nvSpPr>
          <p:cNvPr id="35" name="Text 33"/>
          <p:cNvSpPr/>
          <p:nvPr/>
        </p:nvSpPr>
        <p:spPr>
          <a:xfrm>
            <a:off x="13320713" y="7655272"/>
            <a:ext cx="2113836"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dirty="0">
                <a:solidFill>
                  <a:srgbClr val="475569"/>
                </a:solidFill>
                <a:latin typeface="Arial" pitchFamily="34" charset="0"/>
                <a:ea typeface="Arial" pitchFamily="34" charset="-122"/>
                <a:cs typeface="Arial" pitchFamily="34" charset="-120"/>
              </a:rPr>
              <a:t>Spreadsheet</a:t>
            </a:r>
            <a:endParaRPr lang="en-US" sz="1950" dirty="0"/>
          </a:p>
        </p:txBody>
      </p:sp>
      <p:sp>
        <p:nvSpPr>
          <p:cNvPr id="36" name="Text 34"/>
          <p:cNvSpPr/>
          <p:nvPr/>
        </p:nvSpPr>
        <p:spPr>
          <a:xfrm>
            <a:off x="15375731" y="7655272"/>
            <a:ext cx="2113836"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4F46E5"/>
                </a:solidFill>
                <a:latin typeface="Arial" pitchFamily="34" charset="0"/>
                <a:ea typeface="Arial" pitchFamily="34" charset="-122"/>
                <a:cs typeface="Arial" pitchFamily="34" charset="-120"/>
              </a:rPr>
              <a:t>Another one</a:t>
            </a:r>
            <a:endParaRPr lang="en-US" sz="1950" dirty="0"/>
          </a:p>
        </p:txBody>
      </p:sp>
      <p:sp>
        <p:nvSpPr>
          <p:cNvPr id="37" name="Text 35"/>
          <p:cNvSpPr/>
          <p:nvPr/>
        </p:nvSpPr>
        <p:spPr>
          <a:xfrm>
            <a:off x="990600" y="8148638"/>
            <a:ext cx="1793748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4748B"/>
                </a:solidFill>
                <a:latin typeface="Arial" pitchFamily="34" charset="0"/>
                <a:ea typeface="Arial" pitchFamily="34" charset="-122"/>
                <a:cs typeface="Arial" pitchFamily="34" charset="-120"/>
              </a:rPr>
              <a:t>SUPPORT PROCESSES · ONE PER APP</a:t>
            </a:r>
            <a:endParaRPr lang="en-US" sz="1800" dirty="0"/>
          </a:p>
        </p:txBody>
      </p:sp>
      <p:sp>
        <p:nvSpPr>
          <p:cNvPr id="38" name="Text 36"/>
          <p:cNvSpPr/>
          <p:nvPr/>
        </p:nvSpPr>
        <p:spPr>
          <a:xfrm>
            <a:off x="990600" y="8829675"/>
            <a:ext cx="13735050" cy="809625"/>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0F172A"/>
                </a:solidFill>
                <a:latin typeface="Arial" pitchFamily="34" charset="0"/>
                <a:ea typeface="Arial" pitchFamily="34" charset="-122"/>
                <a:cs typeface="Arial" pitchFamily="34" charset="-120"/>
              </a:rPr>
              <a:t>Time spent chasing help is time not spent on the mission, and the cost grows with every app we launch.</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0F4"/>
        </a:solidFill>
      </p:bgPr>
    </p:bg>
    <p:spTree>
      <p:nvGrpSpPr>
        <p:cNvPr id="1" name=""/>
        <p:cNvGrpSpPr/>
        <p:nvPr/>
      </p:nvGrpSpPr>
      <p:grpSpPr>
        <a:xfrm>
          <a:off x="0" y="0"/>
          <a:ext cx="0" cy="0"/>
          <a:chOff x="0" y="0"/>
          <a:chExt cx="0" cy="0"/>
        </a:xfrm>
      </p:grpSpPr>
      <p:sp>
        <p:nvSpPr>
          <p:cNvPr id="2" name="Text 0"/>
          <p:cNvSpPr/>
          <p:nvPr/>
        </p:nvSpPr>
        <p:spPr>
          <a:xfrm>
            <a:off x="990600" y="838200"/>
            <a:ext cx="670560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02 · SUPPORT TODAY</a:t>
            </a:r>
            <a:endParaRPr lang="en-US" sz="1800" dirty="0"/>
          </a:p>
        </p:txBody>
      </p:sp>
      <p:sp>
        <p:nvSpPr>
          <p:cNvPr id="3" name="Text 1"/>
          <p:cNvSpPr/>
          <p:nvPr/>
        </p:nvSpPr>
        <p:spPr>
          <a:xfrm>
            <a:off x="990600" y="1366838"/>
            <a:ext cx="6278880" cy="2781300"/>
          </a:xfrm>
          <a:prstGeom prst="rect">
            <a:avLst/>
          </a:prstGeom>
          <a:noFill/>
          <a:ln/>
        </p:spPr>
        <p:txBody>
          <a:bodyPr wrap="square" lIns="25400" tIns="25400" rIns="25400" bIns="25400" rtlCol="0" anchor="t">
            <a:normAutofit/>
          </a:bodyPr>
          <a:lstStyle/>
          <a:p>
            <a:pPr algn="l" indent="0" marL="0">
              <a:lnSpc>
                <a:spcPct val="86747"/>
              </a:lnSpc>
              <a:buNone/>
            </a:pPr>
            <a:r>
              <a:rPr lang="en-US" sz="5400" b="1" spc="-189" kern="0" dirty="0">
                <a:solidFill>
                  <a:srgbClr val="0F172A"/>
                </a:solidFill>
                <a:latin typeface="Arial" pitchFamily="34" charset="0"/>
                <a:ea typeface="Arial" pitchFamily="34" charset="-122"/>
                <a:cs typeface="Arial" pitchFamily="34" charset="-120"/>
              </a:rPr>
              <a:t>Help for DO apps lives in inboxes, chats, and spreadsheets</a:t>
            </a:r>
            <a:endParaRPr lang="en-US" sz="5400" dirty="0"/>
          </a:p>
        </p:txBody>
      </p:sp>
      <p:sp>
        <p:nvSpPr>
          <p:cNvPr id="4" name="Text 2"/>
          <p:cNvSpPr/>
          <p:nvPr/>
        </p:nvSpPr>
        <p:spPr>
          <a:xfrm>
            <a:off x="990600" y="4414838"/>
            <a:ext cx="6278880" cy="809625"/>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475569"/>
                </a:solidFill>
                <a:latin typeface="Arial" pitchFamily="34" charset="0"/>
                <a:ea typeface="Arial" pitchFamily="34" charset="-122"/>
                <a:cs typeface="Arial" pitchFamily="34" charset="-120"/>
              </a:rPr>
              <a:t>Nothing is shared: not the entry point, the ownership, the escalation path, or the record.</a:t>
            </a:r>
            <a:endParaRPr lang="en-US" sz="2250" dirty="0"/>
          </a:p>
        </p:txBody>
      </p:sp>
      <p:sp>
        <p:nvSpPr>
          <p:cNvPr id="5" name="Text 3"/>
          <p:cNvSpPr/>
          <p:nvPr/>
        </p:nvSpPr>
        <p:spPr>
          <a:xfrm>
            <a:off x="990600" y="7639050"/>
            <a:ext cx="3238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46E5"/>
                </a:solidFill>
                <a:latin typeface="Arial" pitchFamily="34" charset="0"/>
                <a:ea typeface="Arial" pitchFamily="34" charset="-122"/>
                <a:cs typeface="Arial" pitchFamily="34" charset="-120"/>
              </a:rPr>
              <a:t>—</a:t>
            </a:r>
            <a:endParaRPr lang="en-US" sz="1950" dirty="0"/>
          </a:p>
        </p:txBody>
      </p:sp>
      <p:sp>
        <p:nvSpPr>
          <p:cNvPr id="6" name="Text 4"/>
          <p:cNvSpPr/>
          <p:nvPr/>
        </p:nvSpPr>
        <p:spPr>
          <a:xfrm>
            <a:off x="1390650" y="7629525"/>
            <a:ext cx="4012980" cy="352425"/>
          </a:xfrm>
          <a:prstGeom prst="rect">
            <a:avLst/>
          </a:prstGeom>
          <a:noFill/>
          <a:ln/>
        </p:spPr>
        <p:txBody>
          <a:bodyPr wrap="square" lIns="0" tIns="0" rIns="0" bIns="0" rtlCol="0" anchor="t">
            <a:normAutofit/>
          </a:bodyPr>
          <a:lstStyle/>
          <a:p>
            <a:pPr algn="l" indent="0" marL="0">
              <a:buNone/>
            </a:pPr>
            <a:r>
              <a:rPr lang="en-US" sz="1950" dirty="0">
                <a:solidFill>
                  <a:srgbClr val="0F172A"/>
                </a:solidFill>
                <a:latin typeface="Arial" pitchFamily="34" charset="0"/>
                <a:ea typeface="Arial" pitchFamily="34" charset="-122"/>
                <a:cs typeface="Arial" pitchFamily="34" charset="-120"/>
              </a:rPr>
              <a:t>Employees route their own issues</a:t>
            </a:r>
            <a:endParaRPr lang="en-US" sz="1950" dirty="0"/>
          </a:p>
        </p:txBody>
      </p:sp>
      <p:sp>
        <p:nvSpPr>
          <p:cNvPr id="7" name="Text 5"/>
          <p:cNvSpPr/>
          <p:nvPr/>
        </p:nvSpPr>
        <p:spPr>
          <a:xfrm>
            <a:off x="990600" y="8086725"/>
            <a:ext cx="3238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46E5"/>
                </a:solidFill>
                <a:latin typeface="Arial" pitchFamily="34" charset="0"/>
                <a:ea typeface="Arial" pitchFamily="34" charset="-122"/>
                <a:cs typeface="Arial" pitchFamily="34" charset="-120"/>
              </a:rPr>
              <a:t>—</a:t>
            </a:r>
            <a:endParaRPr lang="en-US" sz="1950" dirty="0"/>
          </a:p>
        </p:txBody>
      </p:sp>
      <p:sp>
        <p:nvSpPr>
          <p:cNvPr id="8" name="Text 6"/>
          <p:cNvSpPr/>
          <p:nvPr/>
        </p:nvSpPr>
        <p:spPr>
          <a:xfrm>
            <a:off x="1390650" y="8077200"/>
            <a:ext cx="5734997" cy="666750"/>
          </a:xfrm>
          <a:prstGeom prst="rect">
            <a:avLst/>
          </a:prstGeom>
          <a:noFill/>
          <a:ln/>
        </p:spPr>
        <p:txBody>
          <a:bodyPr wrap="square" lIns="0" tIns="0" rIns="0" bIns="0" rtlCol="0" anchor="t">
            <a:normAutofit/>
          </a:bodyPr>
          <a:lstStyle/>
          <a:p>
            <a:pPr algn="l" indent="0" marL="0">
              <a:buNone/>
            </a:pPr>
            <a:r>
              <a:rPr lang="en-US" sz="1950" dirty="0">
                <a:solidFill>
                  <a:srgbClr val="0F172A"/>
                </a:solidFill>
                <a:latin typeface="Arial" pitchFamily="34" charset="0"/>
                <a:ea typeface="Arial" pitchFamily="34" charset="-122"/>
                <a:cs typeface="Arial" pitchFamily="34" charset="-120"/>
              </a:rPr>
              <a:t>Support can forward, but rarely has authority to fix</a:t>
            </a:r>
            <a:endParaRPr lang="en-US" sz="1950" dirty="0"/>
          </a:p>
        </p:txBody>
      </p:sp>
      <p:sp>
        <p:nvSpPr>
          <p:cNvPr id="9" name="Text 7"/>
          <p:cNvSpPr/>
          <p:nvPr/>
        </p:nvSpPr>
        <p:spPr>
          <a:xfrm>
            <a:off x="990600" y="8848725"/>
            <a:ext cx="3238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46E5"/>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390650" y="8839200"/>
            <a:ext cx="4398129" cy="352425"/>
          </a:xfrm>
          <a:prstGeom prst="rect">
            <a:avLst/>
          </a:prstGeom>
          <a:noFill/>
          <a:ln/>
        </p:spPr>
        <p:txBody>
          <a:bodyPr wrap="square" lIns="0" tIns="0" rIns="0" bIns="0" rtlCol="0" anchor="t">
            <a:normAutofit/>
          </a:bodyPr>
          <a:lstStyle/>
          <a:p>
            <a:pPr algn="l" indent="0" marL="0">
              <a:buNone/>
            </a:pPr>
            <a:r>
              <a:rPr lang="en-US" sz="1950" dirty="0">
                <a:solidFill>
                  <a:srgbClr val="0F172A"/>
                </a:solidFill>
                <a:latin typeface="Arial" pitchFamily="34" charset="0"/>
                <a:ea typeface="Arial" pitchFamily="34" charset="-122"/>
                <a:cs typeface="Arial" pitchFamily="34" charset="-120"/>
              </a:rPr>
              <a:t>Product teams never see the pattern</a:t>
            </a:r>
            <a:endParaRPr lang="en-US" sz="1950" dirty="0"/>
          </a:p>
        </p:txBody>
      </p:sp>
      <p:sp>
        <p:nvSpPr>
          <p:cNvPr id="11" name="Text 9"/>
          <p:cNvSpPr/>
          <p:nvPr/>
        </p:nvSpPr>
        <p:spPr>
          <a:xfrm>
            <a:off x="990600" y="9296400"/>
            <a:ext cx="3238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46E5"/>
                </a:solidFill>
                <a:latin typeface="Arial" pitchFamily="34" charset="0"/>
                <a:ea typeface="Arial" pitchFamily="34" charset="-122"/>
                <a:cs typeface="Arial" pitchFamily="34" charset="-120"/>
              </a:rPr>
              <a:t>—</a:t>
            </a:r>
            <a:endParaRPr lang="en-US" sz="1950" dirty="0"/>
          </a:p>
        </p:txBody>
      </p:sp>
      <p:sp>
        <p:nvSpPr>
          <p:cNvPr id="12" name="Text 10"/>
          <p:cNvSpPr/>
          <p:nvPr/>
        </p:nvSpPr>
        <p:spPr>
          <a:xfrm>
            <a:off x="1390650" y="9286875"/>
            <a:ext cx="4309065" cy="352425"/>
          </a:xfrm>
          <a:prstGeom prst="rect">
            <a:avLst/>
          </a:prstGeom>
          <a:noFill/>
          <a:ln/>
        </p:spPr>
        <p:txBody>
          <a:bodyPr wrap="square" lIns="0" tIns="0" rIns="0" bIns="0" rtlCol="0" anchor="t">
            <a:normAutofit/>
          </a:bodyPr>
          <a:lstStyle/>
          <a:p>
            <a:pPr algn="l" indent="0" marL="0">
              <a:buNone/>
            </a:pPr>
            <a:r>
              <a:rPr lang="en-US" sz="1950" dirty="0">
                <a:solidFill>
                  <a:srgbClr val="0F172A"/>
                </a:solidFill>
                <a:latin typeface="Arial" pitchFamily="34" charset="0"/>
                <a:ea typeface="Arial" pitchFamily="34" charset="-122"/>
                <a:cs typeface="Arial" pitchFamily="34" charset="-120"/>
              </a:rPr>
              <a:t>Leadership has no view across apps</a:t>
            </a:r>
            <a:endParaRPr lang="en-US" sz="1950" dirty="0"/>
          </a:p>
        </p:txBody>
      </p:sp>
      <p:sp>
        <p:nvSpPr>
          <p:cNvPr id="13" name="Shape 11"/>
          <p:cNvSpPr/>
          <p:nvPr/>
        </p:nvSpPr>
        <p:spPr>
          <a:xfrm rot="-120000">
            <a:off x="7848600" y="1027212"/>
            <a:ext cx="7543801" cy="2171700"/>
          </a:xfrm>
          <a:prstGeom prst="roundRect">
            <a:avLst>
              <a:gd name="adj" fmla="val 7018"/>
            </a:avLst>
          </a:prstGeom>
          <a:solidFill>
            <a:srgbClr val="FFFFFF"/>
          </a:solidFill>
          <a:ln/>
          <a:effectLst>
            <a:outerShdw sx="100000" sy="100000" kx="0" ky="0" algn="bl" rotWithShape="0" blurRad="571500" dist="190500" dir="5400000">
              <a:srgbClr val="0F172A">
                <a:alpha val="12000"/>
              </a:srgbClr>
            </a:outerShdw>
          </a:effectLst>
        </p:spPr>
      </p:sp>
      <p:sp>
        <p:nvSpPr>
          <p:cNvPr id="14" name="Text 12"/>
          <p:cNvSpPr/>
          <p:nvPr/>
        </p:nvSpPr>
        <p:spPr>
          <a:xfrm>
            <a:off x="8166382" y="1214305"/>
            <a:ext cx="7070052" cy="572536"/>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Email · Access</a:t>
            </a:r>
            <a:endParaRPr lang="en-US" sz="1800" dirty="0"/>
          </a:p>
        </p:txBody>
      </p:sp>
      <p:sp>
        <p:nvSpPr>
          <p:cNvPr id="15" name="Text 13"/>
          <p:cNvSpPr/>
          <p:nvPr/>
        </p:nvSpPr>
        <p:spPr>
          <a:xfrm>
            <a:off x="8181341" y="1642668"/>
            <a:ext cx="7071250" cy="605853"/>
          </a:xfrm>
          <a:prstGeom prst="rect">
            <a:avLst/>
          </a:prstGeom>
          <a:noFill/>
          <a:ln/>
        </p:spPr>
        <p:txBody>
          <a:bodyPr wrap="square" lIns="25400" tIns="25400" rIns="25400" bIns="25400" rtlCol="0" anchor="t">
            <a:normAutofit/>
          </a:bodyPr>
          <a:lstStyle/>
          <a:p>
            <a:pPr algn="l" indent="0" marL="0">
              <a:buNone/>
            </a:pPr>
            <a:r>
              <a:rPr lang="en-US" sz="2250" b="1" dirty="0">
                <a:solidFill>
                  <a:srgbClr val="0F172A"/>
                </a:solidFill>
                <a:latin typeface="Arial" pitchFamily="34" charset="0"/>
                <a:ea typeface="Arial" pitchFamily="34" charset="-122"/>
                <a:cs typeface="Arial" pitchFamily="34" charset="-120"/>
              </a:rPr>
              <a:t>RE: RE: FWD: who handles access requests?</a:t>
            </a:r>
            <a:endParaRPr lang="en-US" sz="2250" dirty="0"/>
          </a:p>
        </p:txBody>
      </p:sp>
      <p:sp>
        <p:nvSpPr>
          <p:cNvPr id="16" name="Text 14"/>
          <p:cNvSpPr/>
          <p:nvPr/>
        </p:nvSpPr>
        <p:spPr>
          <a:xfrm>
            <a:off x="8197464" y="2104349"/>
            <a:ext cx="7083468" cy="945570"/>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475569"/>
                </a:solidFill>
                <a:latin typeface="Arial" pitchFamily="34" charset="0"/>
                <a:ea typeface="Arial" pitchFamily="34" charset="-122"/>
                <a:cs typeface="Arial" pitchFamily="34" charset="-120"/>
              </a:rPr>
              <a:t>"Not sure who owns this anymore — forwarding to IT. Can you resend the screenshot?"</a:t>
            </a:r>
            <a:endParaRPr lang="en-US" sz="1950" dirty="0"/>
          </a:p>
        </p:txBody>
      </p:sp>
      <p:sp>
        <p:nvSpPr>
          <p:cNvPr id="17" name="Shape 15"/>
          <p:cNvSpPr/>
          <p:nvPr/>
        </p:nvSpPr>
        <p:spPr>
          <a:xfrm rot="90000">
            <a:off x="10515601" y="3695179"/>
            <a:ext cx="6781798" cy="2552699"/>
          </a:xfrm>
          <a:prstGeom prst="roundRect">
            <a:avLst>
              <a:gd name="adj" fmla="val 5970"/>
            </a:avLst>
          </a:prstGeom>
          <a:solidFill>
            <a:srgbClr val="FFFFFF"/>
          </a:solidFill>
          <a:ln/>
          <a:effectLst>
            <a:outerShdw sx="100000" sy="100000" kx="0" ky="0" algn="bl" rotWithShape="0" blurRad="571500" dist="190500" dir="5400000">
              <a:srgbClr val="0F172A">
                <a:alpha val="12000"/>
              </a:srgbClr>
            </a:outerShdw>
          </a:effectLst>
        </p:spPr>
      </p:sp>
      <p:sp>
        <p:nvSpPr>
          <p:cNvPr id="18" name="Text 16"/>
          <p:cNvSpPr/>
          <p:nvPr/>
        </p:nvSpPr>
        <p:spPr>
          <a:xfrm>
            <a:off x="10877234" y="3921046"/>
            <a:ext cx="6284690" cy="492848"/>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#it-help · Expenses</a:t>
            </a:r>
            <a:endParaRPr lang="en-US" sz="1800" dirty="0"/>
          </a:p>
        </p:txBody>
      </p:sp>
      <p:sp>
        <p:nvSpPr>
          <p:cNvPr id="19" name="Text 17"/>
          <p:cNvSpPr/>
          <p:nvPr/>
        </p:nvSpPr>
        <p:spPr>
          <a:xfrm>
            <a:off x="10845346" y="4349523"/>
            <a:ext cx="6305977" cy="1282111"/>
          </a:xfrm>
          <a:prstGeom prst="rect">
            <a:avLst/>
          </a:prstGeom>
          <a:noFill/>
          <a:ln/>
        </p:spPr>
        <p:txBody>
          <a:bodyPr wrap="square" lIns="25400" tIns="25400" rIns="25400" bIns="25400" rtlCol="0" anchor="t">
            <a:normAutofit/>
          </a:bodyPr>
          <a:lstStyle/>
          <a:p>
            <a:pPr algn="l" indent="0" marL="0">
              <a:lnSpc>
                <a:spcPct val="116308"/>
              </a:lnSpc>
              <a:buNone/>
            </a:pPr>
            <a:r>
              <a:rPr lang="en-US" sz="2100" b="1" dirty="0">
                <a:solidFill>
                  <a:srgbClr val="0F172A"/>
                </a:solidFill>
                <a:latin typeface="Arial" pitchFamily="34" charset="0"/>
                <a:ea typeface="Arial" pitchFamily="34" charset="-122"/>
                <a:cs typeface="Arial" pitchFamily="34" charset="-120"/>
              </a:rPr>
              <a:t>@channel </a:t>
            </a:r>
            <a:pPr algn="l" indent="0" marL="0">
              <a:lnSpc>
                <a:spcPct val="116308"/>
              </a:lnSpc>
              <a:buNone/>
            </a:pPr>
            <a:r>
              <a:rPr lang="en-US" sz="2100" dirty="0">
                <a:solidFill>
                  <a:srgbClr val="0F172A"/>
                </a:solidFill>
                <a:latin typeface="Arial" pitchFamily="34" charset="0"/>
                <a:ea typeface="Arial" pitchFamily="34" charset="-122"/>
                <a:cs typeface="Arial" pitchFamily="34" charset="-120"/>
              </a:rPr>
              <a:t>anyone know the process for Expenses issues? Employee has been waiting since Tuesday.</a:t>
            </a:r>
            <a:endParaRPr lang="en-US" sz="2100" dirty="0"/>
          </a:p>
        </p:txBody>
      </p:sp>
      <p:sp>
        <p:nvSpPr>
          <p:cNvPr id="20" name="Text 18"/>
          <p:cNvSpPr/>
          <p:nvPr/>
        </p:nvSpPr>
        <p:spPr>
          <a:xfrm>
            <a:off x="10834126" y="5567264"/>
            <a:ext cx="6284690" cy="492848"/>
          </a:xfrm>
          <a:prstGeom prst="rect">
            <a:avLst/>
          </a:prstGeom>
          <a:noFill/>
          <a:ln/>
        </p:spPr>
        <p:txBody>
          <a:bodyPr wrap="square" lIns="25400" tIns="25400" rIns="25400" bIns="25400" rtlCol="0" anchor="t">
            <a:normAutofit/>
          </a:bodyPr>
          <a:lstStyle/>
          <a:p>
            <a:pPr algn="l" indent="0" marL="0">
              <a:buNone/>
            </a:pPr>
            <a:r>
              <a:rPr lang="en-US" sz="1800" dirty="0">
                <a:solidFill>
                  <a:srgbClr val="4F46E5"/>
                </a:solidFill>
                <a:latin typeface="Arial" pitchFamily="34" charset="0"/>
                <a:ea typeface="Arial" pitchFamily="34" charset="-122"/>
                <a:cs typeface="Arial" pitchFamily="34" charset="-120"/>
              </a:rPr>
              <a:t>3 replies · no resolution</a:t>
            </a:r>
            <a:endParaRPr lang="en-US" sz="1800" dirty="0"/>
          </a:p>
        </p:txBody>
      </p:sp>
      <p:sp>
        <p:nvSpPr>
          <p:cNvPr id="21" name="Shape 19"/>
          <p:cNvSpPr/>
          <p:nvPr/>
        </p:nvSpPr>
        <p:spPr>
          <a:xfrm rot="-60000">
            <a:off x="8420099" y="8220075"/>
            <a:ext cx="7353302" cy="1381125"/>
          </a:xfrm>
          <a:prstGeom prst="roundRect">
            <a:avLst>
              <a:gd name="adj" fmla="val 11034"/>
            </a:avLst>
          </a:prstGeom>
          <a:solidFill>
            <a:srgbClr val="FFFFFF"/>
          </a:solidFill>
          <a:ln/>
          <a:effectLst>
            <a:outerShdw sx="100000" sy="100000" kx="0" ky="0" algn="bl" rotWithShape="0" blurRad="571500" dist="190500" dir="5400000">
              <a:srgbClr val="0F172A">
                <a:alpha val="12000"/>
              </a:srgbClr>
            </a:outerShdw>
          </a:effectLst>
        </p:spPr>
      </p:sp>
      <p:sp>
        <p:nvSpPr>
          <p:cNvPr id="22" name="Text 20"/>
          <p:cNvSpPr/>
          <p:nvPr/>
        </p:nvSpPr>
        <p:spPr>
          <a:xfrm>
            <a:off x="8756110" y="8428658"/>
            <a:ext cx="6871787" cy="449694"/>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Procurement issues.xlsx · Row 214</a:t>
            </a:r>
            <a:endParaRPr lang="en-US" sz="1800" dirty="0"/>
          </a:p>
        </p:txBody>
      </p:sp>
      <p:sp>
        <p:nvSpPr>
          <p:cNvPr id="23" name="Shape 21"/>
          <p:cNvSpPr/>
          <p:nvPr/>
        </p:nvSpPr>
        <p:spPr>
          <a:xfrm>
            <a:off x="8763258" y="8838170"/>
            <a:ext cx="6674132" cy="9525"/>
          </a:xfrm>
          <a:prstGeom prst="rect">
            <a:avLst/>
          </a:prstGeom>
          <a:solidFill>
            <a:srgbClr val="E2E8F0"/>
          </a:solidFill>
          <a:ln/>
        </p:spPr>
      </p:sp>
      <p:sp>
        <p:nvSpPr>
          <p:cNvPr id="24" name="Text 22"/>
          <p:cNvSpPr/>
          <p:nvPr/>
        </p:nvSpPr>
        <p:spPr>
          <a:xfrm>
            <a:off x="8765420" y="9040883"/>
            <a:ext cx="2366550" cy="389834"/>
          </a:xfrm>
          <a:prstGeom prst="rect">
            <a:avLst/>
          </a:prstGeom>
          <a:noFill/>
          <a:ln/>
        </p:spPr>
        <p:txBody>
          <a:bodyPr wrap="square" lIns="25400" tIns="25400" rIns="25400" bIns="25400" rtlCol="0" anchor="t">
            <a:normAutofit/>
          </a:bodyPr>
          <a:lstStyle/>
          <a:p>
            <a:pPr algn="l" indent="0" marL="0">
              <a:buNone/>
            </a:pPr>
            <a:r>
              <a:rPr lang="en-US" sz="1950" dirty="0">
                <a:solidFill>
                  <a:srgbClr val="475569"/>
                </a:solidFill>
                <a:latin typeface="Arial" pitchFamily="34" charset="0"/>
                <a:ea typeface="Arial" pitchFamily="34" charset="-122"/>
                <a:cs typeface="Arial" pitchFamily="34" charset="-120"/>
              </a:rPr>
              <a:t>Access request</a:t>
            </a:r>
            <a:endParaRPr lang="en-US" sz="1950" dirty="0"/>
          </a:p>
        </p:txBody>
      </p:sp>
      <p:sp>
        <p:nvSpPr>
          <p:cNvPr id="25" name="Text 23"/>
          <p:cNvSpPr/>
          <p:nvPr/>
        </p:nvSpPr>
        <p:spPr>
          <a:xfrm>
            <a:off x="11025626" y="9001430"/>
            <a:ext cx="2366632" cy="389836"/>
          </a:xfrm>
          <a:prstGeom prst="rect">
            <a:avLst/>
          </a:prstGeom>
          <a:noFill/>
          <a:ln/>
        </p:spPr>
        <p:txBody>
          <a:bodyPr wrap="square" lIns="25400" tIns="25400" rIns="25400" bIns="25400" rtlCol="0" anchor="t">
            <a:normAutofit/>
          </a:bodyPr>
          <a:lstStyle/>
          <a:p>
            <a:pPr algn="l" indent="0" marL="0">
              <a:buNone/>
            </a:pPr>
            <a:r>
              <a:rPr lang="en-US" sz="1950" dirty="0">
                <a:solidFill>
                  <a:srgbClr val="475569"/>
                </a:solidFill>
                <a:latin typeface="Arial" pitchFamily="34" charset="0"/>
                <a:ea typeface="Arial" pitchFamily="34" charset="-122"/>
                <a:cs typeface="Arial" pitchFamily="34" charset="-120"/>
              </a:rPr>
              <a:t>Owner: ?</a:t>
            </a:r>
            <a:endParaRPr lang="en-US" sz="1950" dirty="0"/>
          </a:p>
        </p:txBody>
      </p:sp>
      <p:sp>
        <p:nvSpPr>
          <p:cNvPr id="26" name="Text 24"/>
          <p:cNvSpPr/>
          <p:nvPr/>
        </p:nvSpPr>
        <p:spPr>
          <a:xfrm>
            <a:off x="13285905" y="8961977"/>
            <a:ext cx="2366552" cy="389834"/>
          </a:xfrm>
          <a:prstGeom prst="rect">
            <a:avLst/>
          </a:prstGeom>
          <a:noFill/>
          <a:ln/>
        </p:spPr>
        <p:txBody>
          <a:bodyPr wrap="square" lIns="25400" tIns="25400" rIns="25400" bIns="25400" rtlCol="0" anchor="t">
            <a:normAutofit/>
          </a:bodyPr>
          <a:lstStyle/>
          <a:p>
            <a:pPr algn="l" indent="0" marL="0">
              <a:buNone/>
            </a:pPr>
            <a:r>
              <a:rPr lang="en-US" sz="1950" b="1" dirty="0">
                <a:solidFill>
                  <a:srgbClr val="DC2626"/>
                </a:solidFill>
                <a:latin typeface="Arial" pitchFamily="34" charset="0"/>
                <a:ea typeface="Arial" pitchFamily="34" charset="-122"/>
                <a:cs typeface="Arial" pitchFamily="34" charset="-120"/>
              </a:rPr>
              <a:t>Status: ???</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0F4"/>
        </a:solidFill>
      </p:bgPr>
    </p:bg>
    <p:spTree>
      <p:nvGrpSpPr>
        <p:cNvPr id="1" name=""/>
        <p:cNvGrpSpPr/>
        <p:nvPr/>
      </p:nvGrpSpPr>
      <p:grpSpPr>
        <a:xfrm>
          <a:off x="0" y="0"/>
          <a:ext cx="0" cy="0"/>
          <a:chOff x="0" y="0"/>
          <a:chExt cx="0" cy="0"/>
        </a:xfrm>
      </p:grpSpPr>
      <p:sp>
        <p:nvSpPr>
          <p:cNvPr id="2" name="Text 0"/>
          <p:cNvSpPr/>
          <p:nvPr/>
        </p:nvSpPr>
        <p:spPr>
          <a:xfrm>
            <a:off x="990600" y="852488"/>
            <a:ext cx="390115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03 · FOUR VOICES · TODAY</a:t>
            </a:r>
            <a:endParaRPr lang="en-US" sz="1800" dirty="0"/>
          </a:p>
        </p:txBody>
      </p:sp>
      <p:sp>
        <p:nvSpPr>
          <p:cNvPr id="3" name="Text 1"/>
          <p:cNvSpPr/>
          <p:nvPr/>
        </p:nvSpPr>
        <p:spPr>
          <a:xfrm>
            <a:off x="16206936" y="838200"/>
            <a:ext cx="1166664"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Illustrative</a:t>
            </a:r>
            <a:endParaRPr lang="en-US" sz="1800" dirty="0"/>
          </a:p>
        </p:txBody>
      </p:sp>
      <p:sp>
        <p:nvSpPr>
          <p:cNvPr id="4" name="Text 2"/>
          <p:cNvSpPr/>
          <p:nvPr/>
        </p:nvSpPr>
        <p:spPr>
          <a:xfrm>
            <a:off x="990600" y="1362075"/>
            <a:ext cx="17937480" cy="647700"/>
          </a:xfrm>
          <a:prstGeom prst="rect">
            <a:avLst/>
          </a:prstGeom>
          <a:noFill/>
          <a:ln/>
        </p:spPr>
        <p:txBody>
          <a:bodyPr wrap="square" lIns="25400" tIns="25400" rIns="25400" bIns="25400" rtlCol="0" anchor="t">
            <a:normAutofit/>
          </a:bodyPr>
          <a:lstStyle/>
          <a:p>
            <a:pPr algn="l" indent="0" marL="0">
              <a:lnSpc>
                <a:spcPct val="87075"/>
              </a:lnSpc>
              <a:buNone/>
            </a:pPr>
            <a:r>
              <a:rPr lang="en-US" sz="4800" b="1" spc="-168" kern="0" dirty="0">
                <a:solidFill>
                  <a:srgbClr val="0F172A"/>
                </a:solidFill>
                <a:latin typeface="Arial" pitchFamily="34" charset="0"/>
                <a:ea typeface="Arial" pitchFamily="34" charset="-122"/>
                <a:cs typeface="Arial" pitchFamily="34" charset="-120"/>
              </a:rPr>
              <a:t>What fragmented support feels like</a:t>
            </a:r>
            <a:endParaRPr lang="en-US" sz="4800" dirty="0"/>
          </a:p>
        </p:txBody>
      </p:sp>
      <p:sp>
        <p:nvSpPr>
          <p:cNvPr id="5" name="Shape 3"/>
          <p:cNvSpPr/>
          <p:nvPr/>
        </p:nvSpPr>
        <p:spPr>
          <a:xfrm>
            <a:off x="990600" y="5967413"/>
            <a:ext cx="8153400" cy="9525"/>
          </a:xfrm>
          <a:prstGeom prst="rect">
            <a:avLst/>
          </a:prstGeom>
          <a:solidFill>
            <a:srgbClr val="CBD5E1"/>
          </a:solidFill>
          <a:ln/>
        </p:spPr>
      </p:sp>
      <p:sp>
        <p:nvSpPr>
          <p:cNvPr id="6" name="Shape 4"/>
          <p:cNvSpPr/>
          <p:nvPr/>
        </p:nvSpPr>
        <p:spPr>
          <a:xfrm>
            <a:off x="9134475" y="2352675"/>
            <a:ext cx="9525" cy="3624263"/>
          </a:xfrm>
          <a:prstGeom prst="rect">
            <a:avLst/>
          </a:prstGeom>
          <a:solidFill>
            <a:srgbClr val="CBD5E1"/>
          </a:solidFill>
          <a:ln/>
        </p:spPr>
      </p:sp>
      <p:sp>
        <p:nvSpPr>
          <p:cNvPr id="7" name="Text 5"/>
          <p:cNvSpPr/>
          <p:nvPr/>
        </p:nvSpPr>
        <p:spPr>
          <a:xfrm>
            <a:off x="990600" y="3783360"/>
            <a:ext cx="8371522"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EMPLOYEE</a:t>
            </a:r>
            <a:endParaRPr lang="en-US" sz="1800" dirty="0"/>
          </a:p>
        </p:txBody>
      </p:sp>
      <p:sp>
        <p:nvSpPr>
          <p:cNvPr id="8" name="Text 6"/>
          <p:cNvSpPr/>
          <p:nvPr/>
        </p:nvSpPr>
        <p:spPr>
          <a:xfrm>
            <a:off x="990600" y="4216747"/>
            <a:ext cx="7838789" cy="960090"/>
          </a:xfrm>
          <a:prstGeom prst="rect">
            <a:avLst/>
          </a:prstGeom>
          <a:noFill/>
          <a:ln/>
        </p:spPr>
        <p:txBody>
          <a:bodyPr wrap="square" lIns="25400" tIns="25400" rIns="25400" bIns="25400" rtlCol="0" anchor="t">
            <a:normAutofit/>
          </a:bodyPr>
          <a:lstStyle/>
          <a:p>
            <a:pPr algn="l" indent="0" marL="0">
              <a:lnSpc>
                <a:spcPct val="94902"/>
              </a:lnSpc>
              <a:buNone/>
            </a:pPr>
            <a:r>
              <a:rPr lang="en-US" sz="3300" b="1" spc="-66" kern="0" dirty="0">
                <a:solidFill>
                  <a:srgbClr val="0F172A"/>
                </a:solidFill>
                <a:latin typeface="Arial" pitchFamily="34" charset="0"/>
                <a:ea typeface="Arial" pitchFamily="34" charset="-122"/>
                <a:cs typeface="Arial" pitchFamily="34" charset="-120"/>
              </a:rPr>
              <a:t>"I don't know where to ask, or whether anyone has seen it."</a:t>
            </a:r>
            <a:endParaRPr lang="en-US" sz="3300" dirty="0"/>
          </a:p>
        </p:txBody>
      </p:sp>
      <p:sp>
        <p:nvSpPr>
          <p:cNvPr id="9" name="Text 7"/>
          <p:cNvSpPr/>
          <p:nvPr/>
        </p:nvSpPr>
        <p:spPr>
          <a:xfrm>
            <a:off x="990600" y="5310188"/>
            <a:ext cx="8371522" cy="352425"/>
          </a:xfrm>
          <a:prstGeom prst="rect">
            <a:avLst/>
          </a:prstGeom>
          <a:noFill/>
          <a:ln/>
        </p:spPr>
        <p:txBody>
          <a:bodyPr wrap="square" lIns="25400" tIns="25400" rIns="25400" bIns="25400" rtlCol="0" anchor="t">
            <a:normAutofit/>
          </a:bodyPr>
          <a:lstStyle/>
          <a:p>
            <a:pPr algn="l" indent="0" marL="0">
              <a:buNone/>
            </a:pPr>
            <a:r>
              <a:rPr lang="en-US" sz="1950" dirty="0">
                <a:solidFill>
                  <a:srgbClr val="64748B"/>
                </a:solidFill>
                <a:latin typeface="Arial" pitchFamily="34" charset="0"/>
                <a:ea typeface="Arial" pitchFamily="34" charset="-122"/>
                <a:cs typeface="Arial" pitchFamily="34" charset="-120"/>
              </a:rPr>
              <a:t>No consistent place to find answers, report, and track.</a:t>
            </a:r>
            <a:endParaRPr lang="en-US" sz="1950" dirty="0"/>
          </a:p>
        </p:txBody>
      </p:sp>
      <p:sp>
        <p:nvSpPr>
          <p:cNvPr id="10" name="Shape 8"/>
          <p:cNvSpPr/>
          <p:nvPr/>
        </p:nvSpPr>
        <p:spPr>
          <a:xfrm>
            <a:off x="9144000" y="5967413"/>
            <a:ext cx="8153400" cy="9525"/>
          </a:xfrm>
          <a:prstGeom prst="rect">
            <a:avLst/>
          </a:prstGeom>
          <a:solidFill>
            <a:srgbClr val="CBD5E1"/>
          </a:solidFill>
          <a:ln/>
        </p:spPr>
      </p:sp>
      <p:sp>
        <p:nvSpPr>
          <p:cNvPr id="11" name="Text 9"/>
          <p:cNvSpPr/>
          <p:nvPr/>
        </p:nvSpPr>
        <p:spPr>
          <a:xfrm>
            <a:off x="9677400" y="4244355"/>
            <a:ext cx="838200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SUPPORT AGENT</a:t>
            </a:r>
            <a:endParaRPr lang="en-US" sz="1800" dirty="0"/>
          </a:p>
        </p:txBody>
      </p:sp>
      <p:sp>
        <p:nvSpPr>
          <p:cNvPr id="12" name="Text 10"/>
          <p:cNvSpPr/>
          <p:nvPr/>
        </p:nvSpPr>
        <p:spPr>
          <a:xfrm>
            <a:off x="9677400" y="4677742"/>
            <a:ext cx="8382000"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spc="-66" kern="0" dirty="0">
                <a:solidFill>
                  <a:srgbClr val="0F172A"/>
                </a:solidFill>
                <a:latin typeface="Arial" pitchFamily="34" charset="0"/>
                <a:ea typeface="Arial" pitchFamily="34" charset="-122"/>
                <a:cs typeface="Arial" pitchFamily="34" charset="-120"/>
              </a:rPr>
              <a:t>"I can forward it. I can't fix it."</a:t>
            </a:r>
            <a:endParaRPr lang="en-US" sz="3300" dirty="0"/>
          </a:p>
        </p:txBody>
      </p:sp>
      <p:sp>
        <p:nvSpPr>
          <p:cNvPr id="13" name="Text 11"/>
          <p:cNvSpPr/>
          <p:nvPr/>
        </p:nvSpPr>
        <p:spPr>
          <a:xfrm>
            <a:off x="9677400" y="5310188"/>
            <a:ext cx="8382000" cy="352425"/>
          </a:xfrm>
          <a:prstGeom prst="rect">
            <a:avLst/>
          </a:prstGeom>
          <a:noFill/>
          <a:ln/>
        </p:spPr>
        <p:txBody>
          <a:bodyPr wrap="square" lIns="25400" tIns="25400" rIns="25400" bIns="25400" rtlCol="0" anchor="t">
            <a:normAutofit/>
          </a:bodyPr>
          <a:lstStyle/>
          <a:p>
            <a:pPr algn="l" indent="0" marL="0">
              <a:buNone/>
            </a:pPr>
            <a:r>
              <a:rPr lang="en-US" sz="1950" dirty="0">
                <a:solidFill>
                  <a:srgbClr val="64748B"/>
                </a:solidFill>
                <a:latin typeface="Arial" pitchFamily="34" charset="0"/>
                <a:ea typeface="Arial" pitchFamily="34" charset="-122"/>
                <a:cs typeface="Arial" pitchFamily="34" charset="-120"/>
              </a:rPr>
              <a:t>No clear ownership, escalation path, or authority to resolve.</a:t>
            </a:r>
            <a:endParaRPr lang="en-US" sz="1950" dirty="0"/>
          </a:p>
        </p:txBody>
      </p:sp>
      <p:sp>
        <p:nvSpPr>
          <p:cNvPr id="14" name="Shape 12"/>
          <p:cNvSpPr/>
          <p:nvPr/>
        </p:nvSpPr>
        <p:spPr>
          <a:xfrm>
            <a:off x="9134475" y="5976938"/>
            <a:ext cx="9525" cy="3624263"/>
          </a:xfrm>
          <a:prstGeom prst="rect">
            <a:avLst/>
          </a:prstGeom>
          <a:solidFill>
            <a:srgbClr val="CBD5E1"/>
          </a:solidFill>
          <a:ln/>
        </p:spPr>
      </p:sp>
      <p:sp>
        <p:nvSpPr>
          <p:cNvPr id="15" name="Text 13"/>
          <p:cNvSpPr/>
          <p:nvPr/>
        </p:nvSpPr>
        <p:spPr>
          <a:xfrm>
            <a:off x="990600" y="6319838"/>
            <a:ext cx="8371522"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PRODUCT MANAGER</a:t>
            </a:r>
            <a:endParaRPr lang="en-US" sz="1800" dirty="0"/>
          </a:p>
        </p:txBody>
      </p:sp>
      <p:sp>
        <p:nvSpPr>
          <p:cNvPr id="16" name="Text 14"/>
          <p:cNvSpPr/>
          <p:nvPr/>
        </p:nvSpPr>
        <p:spPr>
          <a:xfrm>
            <a:off x="990600" y="6753225"/>
            <a:ext cx="8371522"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spc="-66" kern="0" dirty="0">
                <a:solidFill>
                  <a:srgbClr val="0F172A"/>
                </a:solidFill>
                <a:latin typeface="Arial" pitchFamily="34" charset="0"/>
                <a:ea typeface="Arial" pitchFamily="34" charset="-122"/>
                <a:cs typeface="Arial" pitchFamily="34" charset="-120"/>
              </a:rPr>
              <a:t>"I hear the complaints. I can't rank them."</a:t>
            </a:r>
            <a:endParaRPr lang="en-US" sz="3300" dirty="0"/>
          </a:p>
        </p:txBody>
      </p:sp>
      <p:sp>
        <p:nvSpPr>
          <p:cNvPr id="17" name="Text 15"/>
          <p:cNvSpPr/>
          <p:nvPr/>
        </p:nvSpPr>
        <p:spPr>
          <a:xfrm>
            <a:off x="990600" y="7385670"/>
            <a:ext cx="8371522" cy="352425"/>
          </a:xfrm>
          <a:prstGeom prst="rect">
            <a:avLst/>
          </a:prstGeom>
          <a:noFill/>
          <a:ln/>
        </p:spPr>
        <p:txBody>
          <a:bodyPr wrap="square" lIns="25400" tIns="25400" rIns="25400" bIns="25400" rtlCol="0" anchor="t">
            <a:normAutofit/>
          </a:bodyPr>
          <a:lstStyle/>
          <a:p>
            <a:pPr algn="l" indent="0" marL="0">
              <a:buNone/>
            </a:pPr>
            <a:r>
              <a:rPr lang="en-US" sz="1950" dirty="0">
                <a:solidFill>
                  <a:srgbClr val="64748B"/>
                </a:solidFill>
                <a:latin typeface="Arial" pitchFamily="34" charset="0"/>
                <a:ea typeface="Arial" pitchFamily="34" charset="-122"/>
                <a:cs typeface="Arial" pitchFamily="34" charset="-120"/>
              </a:rPr>
              <a:t>No repeatable way to evaluate feedback.</a:t>
            </a:r>
            <a:endParaRPr lang="en-US" sz="1950" dirty="0"/>
          </a:p>
        </p:txBody>
      </p:sp>
      <p:sp>
        <p:nvSpPr>
          <p:cNvPr id="18" name="Text 16"/>
          <p:cNvSpPr/>
          <p:nvPr/>
        </p:nvSpPr>
        <p:spPr>
          <a:xfrm>
            <a:off x="9677400" y="6319838"/>
            <a:ext cx="838200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LEADER</a:t>
            </a:r>
            <a:endParaRPr lang="en-US" sz="1800" dirty="0"/>
          </a:p>
        </p:txBody>
      </p:sp>
      <p:sp>
        <p:nvSpPr>
          <p:cNvPr id="19" name="Text 17"/>
          <p:cNvSpPr/>
          <p:nvPr/>
        </p:nvSpPr>
        <p:spPr>
          <a:xfrm>
            <a:off x="9677400" y="6753225"/>
            <a:ext cx="8382000"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spc="-66" kern="0" dirty="0">
                <a:solidFill>
                  <a:srgbClr val="0F172A"/>
                </a:solidFill>
                <a:latin typeface="Arial" pitchFamily="34" charset="0"/>
                <a:ea typeface="Arial" pitchFamily="34" charset="-122"/>
                <a:cs typeface="Arial" pitchFamily="34" charset="-120"/>
              </a:rPr>
              <a:t>"I can't see where people are blocked."</a:t>
            </a:r>
            <a:endParaRPr lang="en-US" sz="3300" dirty="0"/>
          </a:p>
        </p:txBody>
      </p:sp>
      <p:sp>
        <p:nvSpPr>
          <p:cNvPr id="20" name="Text 18"/>
          <p:cNvSpPr/>
          <p:nvPr/>
        </p:nvSpPr>
        <p:spPr>
          <a:xfrm>
            <a:off x="9677400" y="7385670"/>
            <a:ext cx="8382000" cy="352425"/>
          </a:xfrm>
          <a:prstGeom prst="rect">
            <a:avLst/>
          </a:prstGeom>
          <a:noFill/>
          <a:ln/>
        </p:spPr>
        <p:txBody>
          <a:bodyPr wrap="square" lIns="25400" tIns="25400" rIns="25400" bIns="25400" rtlCol="0" anchor="t">
            <a:normAutofit/>
          </a:bodyPr>
          <a:lstStyle/>
          <a:p>
            <a:pPr algn="l" indent="0" marL="0">
              <a:buNone/>
            </a:pPr>
            <a:r>
              <a:rPr lang="en-US" sz="1950" dirty="0">
                <a:solidFill>
                  <a:srgbClr val="64748B"/>
                </a:solidFill>
                <a:latin typeface="Arial" pitchFamily="34" charset="0"/>
                <a:ea typeface="Arial" pitchFamily="34" charset="-122"/>
                <a:cs typeface="Arial" pitchFamily="34" charset="-120"/>
              </a:rPr>
              <a:t>No visibility across applications.</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0F4"/>
        </a:solidFill>
      </p:bgPr>
    </p:bg>
    <p:spTree>
      <p:nvGrpSpPr>
        <p:cNvPr id="1" name=""/>
        <p:cNvGrpSpPr/>
        <p:nvPr/>
      </p:nvGrpSpPr>
      <p:grpSpPr>
        <a:xfrm>
          <a:off x="0" y="0"/>
          <a:ext cx="0" cy="0"/>
          <a:chOff x="0" y="0"/>
          <a:chExt cx="0" cy="0"/>
        </a:xfrm>
      </p:grpSpPr>
      <p:sp>
        <p:nvSpPr>
          <p:cNvPr id="2" name="Text 0"/>
          <p:cNvSpPr/>
          <p:nvPr/>
        </p:nvSpPr>
        <p:spPr>
          <a:xfrm>
            <a:off x="990600" y="838200"/>
            <a:ext cx="1793748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04 · THE SOLUTION</a:t>
            </a:r>
            <a:endParaRPr lang="en-US" sz="1800" dirty="0"/>
          </a:p>
        </p:txBody>
      </p:sp>
      <p:sp>
        <p:nvSpPr>
          <p:cNvPr id="3" name="Text 1"/>
          <p:cNvSpPr/>
          <p:nvPr/>
        </p:nvSpPr>
        <p:spPr>
          <a:xfrm>
            <a:off x="990600" y="1366838"/>
            <a:ext cx="12753975" cy="1409700"/>
          </a:xfrm>
          <a:prstGeom prst="rect">
            <a:avLst/>
          </a:prstGeom>
          <a:noFill/>
          <a:ln/>
        </p:spPr>
        <p:txBody>
          <a:bodyPr wrap="square" lIns="25400" tIns="25400" rIns="25400" bIns="25400" rtlCol="0" anchor="t">
            <a:normAutofit/>
          </a:bodyPr>
          <a:lstStyle/>
          <a:p>
            <a:pPr algn="l" indent="0" marL="0">
              <a:lnSpc>
                <a:spcPct val="86747"/>
              </a:lnSpc>
              <a:buNone/>
            </a:pPr>
            <a:r>
              <a:rPr lang="en-US" sz="5400" b="1" spc="-189" kern="0" dirty="0">
                <a:solidFill>
                  <a:srgbClr val="0F172A"/>
                </a:solidFill>
                <a:latin typeface="Arial" pitchFamily="34" charset="0"/>
                <a:ea typeface="Arial" pitchFamily="34" charset="-122"/>
                <a:cs typeface="Arial" pitchFamily="34" charset="-120"/>
              </a:rPr>
              <a:t>The DO App Support Center: one front door for every app</a:t>
            </a:r>
            <a:endParaRPr lang="en-US" sz="5400" dirty="0"/>
          </a:p>
        </p:txBody>
      </p:sp>
      <p:sp>
        <p:nvSpPr>
          <p:cNvPr id="4" name="Shape 2"/>
          <p:cNvSpPr/>
          <p:nvPr/>
        </p:nvSpPr>
        <p:spPr>
          <a:xfrm>
            <a:off x="990600" y="3157538"/>
            <a:ext cx="11201400" cy="6443663"/>
          </a:xfrm>
          <a:prstGeom prst="roundRect">
            <a:avLst>
              <a:gd name="adj" fmla="val 2956"/>
            </a:avLst>
          </a:prstGeom>
          <a:solidFill>
            <a:srgbClr val="FFFFFF"/>
          </a:solidFill>
          <a:ln/>
          <a:effectLst>
            <a:outerShdw sx="100000" sy="100000" kx="0" ky="0" algn="bl" rotWithShape="0" blurRad="666750" dist="228600" dir="5400000">
              <a:srgbClr val="0F172A">
                <a:alpha val="14000"/>
              </a:srgbClr>
            </a:outerShdw>
          </a:effectLst>
        </p:spPr>
      </p:sp>
      <p:sp>
        <p:nvSpPr>
          <p:cNvPr id="5" name="Shape 3"/>
          <p:cNvSpPr/>
          <p:nvPr/>
        </p:nvSpPr>
        <p:spPr>
          <a:xfrm>
            <a:off x="990600" y="3948112"/>
            <a:ext cx="11201400" cy="9525"/>
          </a:xfrm>
          <a:prstGeom prst="rect">
            <a:avLst/>
          </a:prstGeom>
          <a:solidFill>
            <a:srgbClr val="E2E8F0"/>
          </a:solidFill>
          <a:ln/>
        </p:spPr>
      </p:sp>
      <p:sp>
        <p:nvSpPr>
          <p:cNvPr id="6" name="Shape 4"/>
          <p:cNvSpPr/>
          <p:nvPr/>
        </p:nvSpPr>
        <p:spPr>
          <a:xfrm>
            <a:off x="1219200" y="3486150"/>
            <a:ext cx="133350" cy="133350"/>
          </a:xfrm>
          <a:prstGeom prst="ellipse">
            <a:avLst/>
          </a:prstGeom>
          <a:solidFill>
            <a:srgbClr val="E2E8F0"/>
          </a:solidFill>
          <a:ln/>
        </p:spPr>
      </p:sp>
      <p:sp>
        <p:nvSpPr>
          <p:cNvPr id="7" name="Shape 5"/>
          <p:cNvSpPr/>
          <p:nvPr/>
        </p:nvSpPr>
        <p:spPr>
          <a:xfrm>
            <a:off x="1447800" y="3486150"/>
            <a:ext cx="133350" cy="133350"/>
          </a:xfrm>
          <a:prstGeom prst="ellipse">
            <a:avLst/>
          </a:prstGeom>
          <a:solidFill>
            <a:srgbClr val="E2E8F0"/>
          </a:solidFill>
          <a:ln/>
        </p:spPr>
      </p:sp>
      <p:sp>
        <p:nvSpPr>
          <p:cNvPr id="8" name="Shape 6"/>
          <p:cNvSpPr/>
          <p:nvPr/>
        </p:nvSpPr>
        <p:spPr>
          <a:xfrm>
            <a:off x="1676400" y="3486150"/>
            <a:ext cx="133350" cy="133350"/>
          </a:xfrm>
          <a:prstGeom prst="ellipse">
            <a:avLst/>
          </a:prstGeom>
          <a:solidFill>
            <a:srgbClr val="E2E8F0"/>
          </a:solidFill>
          <a:ln/>
        </p:spPr>
      </p:sp>
      <p:sp>
        <p:nvSpPr>
          <p:cNvPr id="9" name="Shape 7"/>
          <p:cNvSpPr/>
          <p:nvPr/>
        </p:nvSpPr>
        <p:spPr>
          <a:xfrm>
            <a:off x="2133600" y="3328988"/>
            <a:ext cx="9829800" cy="447675"/>
          </a:xfrm>
          <a:prstGeom prst="roundRect">
            <a:avLst>
              <a:gd name="adj" fmla="val 17021"/>
            </a:avLst>
          </a:prstGeom>
          <a:solidFill>
            <a:srgbClr val="F1F5F9"/>
          </a:solidFill>
          <a:ln/>
        </p:spPr>
      </p:sp>
      <p:sp>
        <p:nvSpPr>
          <p:cNvPr id="10" name="Text 8"/>
          <p:cNvSpPr/>
          <p:nvPr/>
        </p:nvSpPr>
        <p:spPr>
          <a:xfrm>
            <a:off x="2324100" y="3405188"/>
            <a:ext cx="9743694"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support.access.internal</a:t>
            </a:r>
            <a:endParaRPr lang="en-US" sz="1800" dirty="0"/>
          </a:p>
        </p:txBody>
      </p:sp>
      <p:sp>
        <p:nvSpPr>
          <p:cNvPr id="11" name="Shape 9"/>
          <p:cNvSpPr/>
          <p:nvPr/>
        </p:nvSpPr>
        <p:spPr>
          <a:xfrm>
            <a:off x="12725400" y="3157538"/>
            <a:ext cx="419100" cy="419100"/>
          </a:xfrm>
          <a:prstGeom prst="ellipse">
            <a:avLst/>
          </a:prstGeom>
          <a:solidFill>
            <a:srgbClr val="4F46E5"/>
          </a:solidFill>
          <a:ln/>
        </p:spPr>
      </p:sp>
      <p:sp>
        <p:nvSpPr>
          <p:cNvPr id="12" name="Text 10"/>
          <p:cNvSpPr/>
          <p:nvPr/>
        </p:nvSpPr>
        <p:spPr>
          <a:xfrm>
            <a:off x="12687300" y="3157538"/>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3" name="Text 11"/>
          <p:cNvSpPr/>
          <p:nvPr/>
        </p:nvSpPr>
        <p:spPr>
          <a:xfrm>
            <a:off x="13335000" y="3157538"/>
            <a:ext cx="435864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0F172A"/>
                </a:solidFill>
                <a:latin typeface="Arial" pitchFamily="34" charset="0"/>
                <a:ea typeface="Arial" pitchFamily="34" charset="-122"/>
                <a:cs typeface="Arial" pitchFamily="34" charset="-120"/>
              </a:rPr>
              <a:t>Search first</a:t>
            </a:r>
            <a:endParaRPr lang="en-US" sz="2100" dirty="0"/>
          </a:p>
        </p:txBody>
      </p:sp>
      <p:sp>
        <p:nvSpPr>
          <p:cNvPr id="14" name="Text 12"/>
          <p:cNvSpPr/>
          <p:nvPr/>
        </p:nvSpPr>
        <p:spPr>
          <a:xfrm>
            <a:off x="13335000" y="3524250"/>
            <a:ext cx="4081272" cy="65529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75569"/>
                </a:solidFill>
                <a:latin typeface="Arial" pitchFamily="34" charset="0"/>
                <a:ea typeface="Arial" pitchFamily="34" charset="-122"/>
                <a:cs typeface="Arial" pitchFamily="34" charset="-120"/>
              </a:rPr>
              <a:t>Knowledge articles answer most questions before a ticket exists.</a:t>
            </a:r>
            <a:endParaRPr lang="en-US" sz="1800" dirty="0"/>
          </a:p>
        </p:txBody>
      </p:sp>
      <p:sp>
        <p:nvSpPr>
          <p:cNvPr id="15" name="Shape 13"/>
          <p:cNvSpPr/>
          <p:nvPr/>
        </p:nvSpPr>
        <p:spPr>
          <a:xfrm>
            <a:off x="12725400" y="4599608"/>
            <a:ext cx="419100" cy="419100"/>
          </a:xfrm>
          <a:prstGeom prst="ellipse">
            <a:avLst/>
          </a:prstGeom>
          <a:solidFill>
            <a:srgbClr val="4F46E5"/>
          </a:solidFill>
          <a:ln/>
        </p:spPr>
      </p:sp>
      <p:sp>
        <p:nvSpPr>
          <p:cNvPr id="16" name="Text 14"/>
          <p:cNvSpPr/>
          <p:nvPr/>
        </p:nvSpPr>
        <p:spPr>
          <a:xfrm>
            <a:off x="12687300" y="4599608"/>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7" name="Text 15"/>
          <p:cNvSpPr/>
          <p:nvPr/>
        </p:nvSpPr>
        <p:spPr>
          <a:xfrm>
            <a:off x="13335000" y="4599608"/>
            <a:ext cx="435864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0F172A"/>
                </a:solidFill>
                <a:latin typeface="Arial" pitchFamily="34" charset="0"/>
                <a:ea typeface="Arial" pitchFamily="34" charset="-122"/>
                <a:cs typeface="Arial" pitchFamily="34" charset="-120"/>
              </a:rPr>
              <a:t>One ticket, tracked</a:t>
            </a:r>
            <a:endParaRPr lang="en-US" sz="2100" dirty="0"/>
          </a:p>
        </p:txBody>
      </p:sp>
      <p:sp>
        <p:nvSpPr>
          <p:cNvPr id="18" name="Text 16"/>
          <p:cNvSpPr/>
          <p:nvPr/>
        </p:nvSpPr>
        <p:spPr>
          <a:xfrm>
            <a:off x="13335000" y="4966320"/>
            <a:ext cx="4081272" cy="65529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75569"/>
                </a:solidFill>
                <a:latin typeface="Arial" pitchFamily="34" charset="0"/>
                <a:ea typeface="Arial" pitchFamily="34" charset="-122"/>
                <a:cs typeface="Arial" pitchFamily="34" charset="-120"/>
              </a:rPr>
              <a:t>Status visible to the employee; owned by Tier 1 from minute one.</a:t>
            </a:r>
            <a:endParaRPr lang="en-US" sz="1800" dirty="0"/>
          </a:p>
        </p:txBody>
      </p:sp>
      <p:sp>
        <p:nvSpPr>
          <p:cNvPr id="19" name="Shape 17"/>
          <p:cNvSpPr/>
          <p:nvPr/>
        </p:nvSpPr>
        <p:spPr>
          <a:xfrm>
            <a:off x="12725400" y="6041752"/>
            <a:ext cx="419100" cy="419100"/>
          </a:xfrm>
          <a:prstGeom prst="ellipse">
            <a:avLst/>
          </a:prstGeom>
          <a:solidFill>
            <a:srgbClr val="4F46E5"/>
          </a:solidFill>
          <a:ln/>
        </p:spPr>
      </p:sp>
      <p:sp>
        <p:nvSpPr>
          <p:cNvPr id="20" name="Text 18"/>
          <p:cNvSpPr/>
          <p:nvPr/>
        </p:nvSpPr>
        <p:spPr>
          <a:xfrm>
            <a:off x="12687300" y="6041752"/>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9"/>
          <p:cNvSpPr/>
          <p:nvPr/>
        </p:nvSpPr>
        <p:spPr>
          <a:xfrm>
            <a:off x="13335000" y="6041752"/>
            <a:ext cx="3609008"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0F172A"/>
                </a:solidFill>
                <a:latin typeface="Arial" pitchFamily="34" charset="0"/>
                <a:ea typeface="Arial" pitchFamily="34" charset="-122"/>
                <a:cs typeface="Arial" pitchFamily="34" charset="-120"/>
              </a:rPr>
              <a:t>Escalate without restarting</a:t>
            </a:r>
            <a:endParaRPr lang="en-US" sz="2100" dirty="0"/>
          </a:p>
        </p:txBody>
      </p:sp>
      <p:sp>
        <p:nvSpPr>
          <p:cNvPr id="22" name="Text 20"/>
          <p:cNvSpPr/>
          <p:nvPr/>
        </p:nvSpPr>
        <p:spPr>
          <a:xfrm>
            <a:off x="13335000" y="6408465"/>
            <a:ext cx="3609008" cy="34669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75569"/>
                </a:solidFill>
                <a:latin typeface="Arial" pitchFamily="34" charset="0"/>
                <a:ea typeface="Arial" pitchFamily="34" charset="-122"/>
                <a:cs typeface="Arial" pitchFamily="34" charset="-120"/>
              </a:rPr>
              <a:t>T1 → T2 → T3 on one SLA clock.</a:t>
            </a:r>
            <a:endParaRPr lang="en-US" sz="1800" dirty="0"/>
          </a:p>
        </p:txBody>
      </p:sp>
      <p:sp>
        <p:nvSpPr>
          <p:cNvPr id="23" name="Shape 21"/>
          <p:cNvSpPr/>
          <p:nvPr/>
        </p:nvSpPr>
        <p:spPr>
          <a:xfrm>
            <a:off x="12725400" y="7175227"/>
            <a:ext cx="419100" cy="419100"/>
          </a:xfrm>
          <a:prstGeom prst="ellipse">
            <a:avLst/>
          </a:prstGeom>
          <a:solidFill>
            <a:srgbClr val="4F46E5"/>
          </a:solidFill>
          <a:ln/>
        </p:spPr>
      </p:sp>
      <p:sp>
        <p:nvSpPr>
          <p:cNvPr id="24" name="Text 22"/>
          <p:cNvSpPr/>
          <p:nvPr/>
        </p:nvSpPr>
        <p:spPr>
          <a:xfrm>
            <a:off x="12687300" y="7175227"/>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5" name="Text 23"/>
          <p:cNvSpPr/>
          <p:nvPr/>
        </p:nvSpPr>
        <p:spPr>
          <a:xfrm>
            <a:off x="13335000" y="7175227"/>
            <a:ext cx="435864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0F172A"/>
                </a:solidFill>
                <a:latin typeface="Arial" pitchFamily="34" charset="0"/>
                <a:ea typeface="Arial" pitchFamily="34" charset="-122"/>
                <a:cs typeface="Arial" pitchFamily="34" charset="-120"/>
              </a:rPr>
              <a:t>Fix it in the connected app</a:t>
            </a:r>
            <a:endParaRPr lang="en-US" sz="2100" dirty="0"/>
          </a:p>
        </p:txBody>
      </p:sp>
      <p:sp>
        <p:nvSpPr>
          <p:cNvPr id="26" name="Text 24"/>
          <p:cNvSpPr/>
          <p:nvPr/>
        </p:nvSpPr>
        <p:spPr>
          <a:xfrm>
            <a:off x="13335000" y="7541940"/>
            <a:ext cx="4081272" cy="65529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75569"/>
                </a:solidFill>
                <a:latin typeface="Arial" pitchFamily="34" charset="0"/>
                <a:ea typeface="Arial" pitchFamily="34" charset="-122"/>
                <a:cs typeface="Arial" pitchFamily="34" charset="-120"/>
              </a:rPr>
              <a:t>Approved actions, attributed to a named person, kept in the audit trail.</a:t>
            </a:r>
            <a:endParaRPr lang="en-US" sz="1800" dirty="0"/>
          </a:p>
        </p:txBody>
      </p:sp>
      <p:sp>
        <p:nvSpPr>
          <p:cNvPr id="27" name="Shape 25"/>
          <p:cNvSpPr/>
          <p:nvPr/>
        </p:nvSpPr>
        <p:spPr>
          <a:xfrm>
            <a:off x="12725400" y="8617297"/>
            <a:ext cx="419100" cy="419100"/>
          </a:xfrm>
          <a:prstGeom prst="ellipse">
            <a:avLst/>
          </a:prstGeom>
          <a:solidFill>
            <a:srgbClr val="4F46E5"/>
          </a:solidFill>
          <a:ln/>
        </p:spPr>
      </p:sp>
      <p:sp>
        <p:nvSpPr>
          <p:cNvPr id="28" name="Text 26"/>
          <p:cNvSpPr/>
          <p:nvPr/>
        </p:nvSpPr>
        <p:spPr>
          <a:xfrm>
            <a:off x="12687300" y="8617297"/>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9" name="Text 27"/>
          <p:cNvSpPr/>
          <p:nvPr/>
        </p:nvSpPr>
        <p:spPr>
          <a:xfrm>
            <a:off x="13335000" y="8617297"/>
            <a:ext cx="435864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0F172A"/>
                </a:solidFill>
                <a:latin typeface="Arial" pitchFamily="34" charset="0"/>
                <a:ea typeface="Arial" pitchFamily="34" charset="-122"/>
                <a:cs typeface="Arial" pitchFamily="34" charset="-120"/>
              </a:rPr>
              <a:t>Feedback becomes roadmap</a:t>
            </a:r>
            <a:endParaRPr lang="en-US" sz="2100" dirty="0"/>
          </a:p>
        </p:txBody>
      </p:sp>
      <p:sp>
        <p:nvSpPr>
          <p:cNvPr id="30" name="Text 28"/>
          <p:cNvSpPr/>
          <p:nvPr/>
        </p:nvSpPr>
        <p:spPr>
          <a:xfrm>
            <a:off x="13335000" y="8984010"/>
            <a:ext cx="4081272" cy="655290"/>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475569"/>
                </a:solidFill>
                <a:latin typeface="Arial" pitchFamily="34" charset="0"/>
                <a:ea typeface="Arial" pitchFamily="34" charset="-122"/>
                <a:cs typeface="Arial" pitchFamily="34" charset="-120"/>
              </a:rPr>
              <a:t>Patterns are scored and prioritized the same way in every app.</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90600" y="852488"/>
            <a:ext cx="4794848"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5B4FC"/>
                </a:solidFill>
                <a:latin typeface="Arial" pitchFamily="34" charset="0"/>
                <a:ea typeface="Arial" pitchFamily="34" charset="-122"/>
                <a:cs typeface="Arial" pitchFamily="34" charset="-120"/>
              </a:rPr>
              <a:t>05 · FOUR VOICES · WITH DOASC</a:t>
            </a:r>
            <a:endParaRPr lang="en-US" sz="1800" dirty="0"/>
          </a:p>
        </p:txBody>
      </p:sp>
      <p:sp>
        <p:nvSpPr>
          <p:cNvPr id="3" name="Text 1"/>
          <p:cNvSpPr/>
          <p:nvPr/>
        </p:nvSpPr>
        <p:spPr>
          <a:xfrm>
            <a:off x="16206936" y="838200"/>
            <a:ext cx="1166664" cy="333375"/>
          </a:xfrm>
          <a:prstGeom prst="rect">
            <a:avLst/>
          </a:prstGeom>
          <a:noFill/>
          <a:ln/>
        </p:spPr>
        <p:txBody>
          <a:bodyPr wrap="square" lIns="25400" tIns="25400" rIns="25400" bIns="25400" rtlCol="0" anchor="t">
            <a:normAutofit/>
          </a:bodyPr>
          <a:lstStyle/>
          <a:p>
            <a:pPr algn="l" indent="0" marL="0">
              <a:buNone/>
            </a:pPr>
            <a:r>
              <a:rPr lang="en-US" sz="1800" dirty="0">
                <a:solidFill>
                  <a:srgbClr val="94A3B8"/>
                </a:solidFill>
                <a:latin typeface="Arial" pitchFamily="34" charset="0"/>
                <a:ea typeface="Arial" pitchFamily="34" charset="-122"/>
                <a:cs typeface="Arial" pitchFamily="34" charset="-120"/>
              </a:rPr>
              <a:t>Illustrative</a:t>
            </a:r>
            <a:endParaRPr lang="en-US" sz="1800" dirty="0"/>
          </a:p>
        </p:txBody>
      </p:sp>
      <p:sp>
        <p:nvSpPr>
          <p:cNvPr id="4" name="Text 2"/>
          <p:cNvSpPr/>
          <p:nvPr/>
        </p:nvSpPr>
        <p:spPr>
          <a:xfrm>
            <a:off x="990600" y="1362075"/>
            <a:ext cx="17937480" cy="647700"/>
          </a:xfrm>
          <a:prstGeom prst="rect">
            <a:avLst/>
          </a:prstGeom>
          <a:noFill/>
          <a:ln/>
        </p:spPr>
        <p:txBody>
          <a:bodyPr wrap="square" lIns="25400" tIns="25400" rIns="25400" bIns="25400" rtlCol="0" anchor="t">
            <a:normAutofit/>
          </a:bodyPr>
          <a:lstStyle/>
          <a:p>
            <a:pPr algn="l" indent="0" marL="0">
              <a:lnSpc>
                <a:spcPct val="87075"/>
              </a:lnSpc>
              <a:buNone/>
            </a:pPr>
            <a:r>
              <a:rPr lang="en-US" sz="4800" b="1" spc="-168" kern="0" dirty="0">
                <a:solidFill>
                  <a:srgbClr val="FFFFFF"/>
                </a:solidFill>
                <a:latin typeface="Arial" pitchFamily="34" charset="0"/>
                <a:ea typeface="Arial" pitchFamily="34" charset="-122"/>
                <a:cs typeface="Arial" pitchFamily="34" charset="-120"/>
              </a:rPr>
              <a:t>What one support center changes</a:t>
            </a:r>
            <a:endParaRPr lang="en-US" sz="4800" dirty="0"/>
          </a:p>
        </p:txBody>
      </p:sp>
      <p:sp>
        <p:nvSpPr>
          <p:cNvPr id="5" name="Shape 3"/>
          <p:cNvSpPr/>
          <p:nvPr/>
        </p:nvSpPr>
        <p:spPr>
          <a:xfrm>
            <a:off x="990600" y="5967413"/>
            <a:ext cx="8153400" cy="9525"/>
          </a:xfrm>
          <a:prstGeom prst="rect">
            <a:avLst/>
          </a:prstGeom>
          <a:solidFill>
            <a:srgbClr val="334155"/>
          </a:solidFill>
          <a:ln/>
        </p:spPr>
      </p:sp>
      <p:sp>
        <p:nvSpPr>
          <p:cNvPr id="6" name="Shape 4"/>
          <p:cNvSpPr/>
          <p:nvPr/>
        </p:nvSpPr>
        <p:spPr>
          <a:xfrm>
            <a:off x="9134475" y="2352675"/>
            <a:ext cx="9525" cy="3624263"/>
          </a:xfrm>
          <a:prstGeom prst="rect">
            <a:avLst/>
          </a:prstGeom>
          <a:solidFill>
            <a:srgbClr val="334155"/>
          </a:solidFill>
          <a:ln/>
        </p:spPr>
      </p:sp>
      <p:sp>
        <p:nvSpPr>
          <p:cNvPr id="7" name="Text 5"/>
          <p:cNvSpPr/>
          <p:nvPr/>
        </p:nvSpPr>
        <p:spPr>
          <a:xfrm>
            <a:off x="990600" y="3783360"/>
            <a:ext cx="8371522"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5B4FC"/>
                </a:solidFill>
                <a:latin typeface="Arial" pitchFamily="34" charset="0"/>
                <a:ea typeface="Arial" pitchFamily="34" charset="-122"/>
                <a:cs typeface="Arial" pitchFamily="34" charset="-120"/>
              </a:rPr>
              <a:t>EMPLOYEE</a:t>
            </a:r>
            <a:endParaRPr lang="en-US" sz="1800" dirty="0"/>
          </a:p>
        </p:txBody>
      </p:sp>
      <p:sp>
        <p:nvSpPr>
          <p:cNvPr id="8" name="Text 6"/>
          <p:cNvSpPr/>
          <p:nvPr/>
        </p:nvSpPr>
        <p:spPr>
          <a:xfrm>
            <a:off x="990600" y="4216747"/>
            <a:ext cx="7838789" cy="960090"/>
          </a:xfrm>
          <a:prstGeom prst="rect">
            <a:avLst/>
          </a:prstGeom>
          <a:noFill/>
          <a:ln/>
        </p:spPr>
        <p:txBody>
          <a:bodyPr wrap="square" lIns="25400" tIns="25400" rIns="25400" bIns="25400" rtlCol="0" anchor="t">
            <a:normAutofit/>
          </a:bodyPr>
          <a:lstStyle/>
          <a:p>
            <a:pPr algn="l" indent="0" marL="0">
              <a:lnSpc>
                <a:spcPct val="94902"/>
              </a:lnSpc>
              <a:buNone/>
            </a:pPr>
            <a:r>
              <a:rPr lang="en-US" sz="3300" b="1" spc="-66" kern="0" dirty="0">
                <a:solidFill>
                  <a:srgbClr val="FFFFFF"/>
                </a:solidFill>
                <a:latin typeface="Arial" pitchFamily="34" charset="0"/>
                <a:ea typeface="Arial" pitchFamily="34" charset="-122"/>
                <a:cs typeface="Arial" pitchFamily="34" charset="-120"/>
              </a:rPr>
              <a:t>"One place to ask, and I can see where it stands."</a:t>
            </a:r>
            <a:endParaRPr lang="en-US" sz="3300" dirty="0"/>
          </a:p>
        </p:txBody>
      </p:sp>
      <p:sp>
        <p:nvSpPr>
          <p:cNvPr id="9" name="Text 7"/>
          <p:cNvSpPr/>
          <p:nvPr/>
        </p:nvSpPr>
        <p:spPr>
          <a:xfrm>
            <a:off x="990600" y="5310188"/>
            <a:ext cx="8371522" cy="352425"/>
          </a:xfrm>
          <a:prstGeom prst="rect">
            <a:avLst/>
          </a:prstGeom>
          <a:noFill/>
          <a:ln/>
        </p:spPr>
        <p:txBody>
          <a:bodyPr wrap="square" lIns="25400" tIns="25400" rIns="25400" bIns="25400" rtlCol="0" anchor="t">
            <a:normAutofit/>
          </a:bodyPr>
          <a:lstStyle/>
          <a:p>
            <a:pPr algn="l" indent="0" marL="0">
              <a:buNone/>
            </a:pPr>
            <a:r>
              <a:rPr lang="en-US" sz="1950" dirty="0">
                <a:solidFill>
                  <a:srgbClr val="94A3B8"/>
                </a:solidFill>
                <a:latin typeface="Arial" pitchFamily="34" charset="0"/>
                <a:ea typeface="Arial" pitchFamily="34" charset="-122"/>
                <a:cs typeface="Arial" pitchFamily="34" charset="-120"/>
              </a:rPr>
              <a:t>Search, submit, and track in every app's support center.</a:t>
            </a:r>
            <a:endParaRPr lang="en-US" sz="1950" dirty="0"/>
          </a:p>
        </p:txBody>
      </p:sp>
      <p:sp>
        <p:nvSpPr>
          <p:cNvPr id="10" name="Shape 8"/>
          <p:cNvSpPr/>
          <p:nvPr/>
        </p:nvSpPr>
        <p:spPr>
          <a:xfrm>
            <a:off x="9144000" y="5967413"/>
            <a:ext cx="8153400" cy="9525"/>
          </a:xfrm>
          <a:prstGeom prst="rect">
            <a:avLst/>
          </a:prstGeom>
          <a:solidFill>
            <a:srgbClr val="334155"/>
          </a:solidFill>
          <a:ln/>
        </p:spPr>
      </p:sp>
      <p:sp>
        <p:nvSpPr>
          <p:cNvPr id="11" name="Text 9"/>
          <p:cNvSpPr/>
          <p:nvPr/>
        </p:nvSpPr>
        <p:spPr>
          <a:xfrm>
            <a:off x="9677400" y="4244355"/>
            <a:ext cx="838200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5B4FC"/>
                </a:solidFill>
                <a:latin typeface="Arial" pitchFamily="34" charset="0"/>
                <a:ea typeface="Arial" pitchFamily="34" charset="-122"/>
                <a:cs typeface="Arial" pitchFamily="34" charset="-120"/>
              </a:rPr>
              <a:t>SUPPORT AGENT</a:t>
            </a:r>
            <a:endParaRPr lang="en-US" sz="1800" dirty="0"/>
          </a:p>
        </p:txBody>
      </p:sp>
      <p:sp>
        <p:nvSpPr>
          <p:cNvPr id="12" name="Text 10"/>
          <p:cNvSpPr/>
          <p:nvPr/>
        </p:nvSpPr>
        <p:spPr>
          <a:xfrm>
            <a:off x="9677400" y="4677742"/>
            <a:ext cx="8382000"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spc="-66" kern="0" dirty="0">
                <a:solidFill>
                  <a:srgbClr val="FFFFFF"/>
                </a:solidFill>
                <a:latin typeface="Arial" pitchFamily="34" charset="0"/>
                <a:ea typeface="Arial" pitchFamily="34" charset="-122"/>
                <a:cs typeface="Arial" pitchFamily="34" charset="-120"/>
              </a:rPr>
              <a:t>"I own it from minute one, and I can fix it."</a:t>
            </a:r>
            <a:endParaRPr lang="en-US" sz="3300" dirty="0"/>
          </a:p>
        </p:txBody>
      </p:sp>
      <p:sp>
        <p:nvSpPr>
          <p:cNvPr id="13" name="Text 11"/>
          <p:cNvSpPr/>
          <p:nvPr/>
        </p:nvSpPr>
        <p:spPr>
          <a:xfrm>
            <a:off x="9677400" y="5310188"/>
            <a:ext cx="8382000" cy="352425"/>
          </a:xfrm>
          <a:prstGeom prst="rect">
            <a:avLst/>
          </a:prstGeom>
          <a:noFill/>
          <a:ln/>
        </p:spPr>
        <p:txBody>
          <a:bodyPr wrap="square" lIns="25400" tIns="25400" rIns="25400" bIns="25400" rtlCol="0" anchor="t">
            <a:normAutofit/>
          </a:bodyPr>
          <a:lstStyle/>
          <a:p>
            <a:pPr algn="l" indent="0" marL="0">
              <a:buNone/>
            </a:pPr>
            <a:r>
              <a:rPr lang="en-US" sz="1950" dirty="0">
                <a:solidFill>
                  <a:srgbClr val="94A3B8"/>
                </a:solidFill>
                <a:latin typeface="Arial" pitchFamily="34" charset="0"/>
                <a:ea typeface="Arial" pitchFamily="34" charset="-122"/>
                <a:cs typeface="Arial" pitchFamily="34" charset="-120"/>
              </a:rPr>
              <a:t>Shared tiers, approvals, and actions in the connected app.</a:t>
            </a:r>
            <a:endParaRPr lang="en-US" sz="1950" dirty="0"/>
          </a:p>
        </p:txBody>
      </p:sp>
      <p:sp>
        <p:nvSpPr>
          <p:cNvPr id="14" name="Shape 12"/>
          <p:cNvSpPr/>
          <p:nvPr/>
        </p:nvSpPr>
        <p:spPr>
          <a:xfrm>
            <a:off x="9134475" y="5976938"/>
            <a:ext cx="9525" cy="3624263"/>
          </a:xfrm>
          <a:prstGeom prst="rect">
            <a:avLst/>
          </a:prstGeom>
          <a:solidFill>
            <a:srgbClr val="334155"/>
          </a:solidFill>
          <a:ln/>
        </p:spPr>
      </p:sp>
      <p:sp>
        <p:nvSpPr>
          <p:cNvPr id="15" name="Text 13"/>
          <p:cNvSpPr/>
          <p:nvPr/>
        </p:nvSpPr>
        <p:spPr>
          <a:xfrm>
            <a:off x="990600" y="6319838"/>
            <a:ext cx="8371522"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5B4FC"/>
                </a:solidFill>
                <a:latin typeface="Arial" pitchFamily="34" charset="0"/>
                <a:ea typeface="Arial" pitchFamily="34" charset="-122"/>
                <a:cs typeface="Arial" pitchFamily="34" charset="-120"/>
              </a:rPr>
              <a:t>PRODUCT MANAGER</a:t>
            </a:r>
            <a:endParaRPr lang="en-US" sz="1800" dirty="0"/>
          </a:p>
        </p:txBody>
      </p:sp>
      <p:sp>
        <p:nvSpPr>
          <p:cNvPr id="16" name="Text 14"/>
          <p:cNvSpPr/>
          <p:nvPr/>
        </p:nvSpPr>
        <p:spPr>
          <a:xfrm>
            <a:off x="990600" y="6753225"/>
            <a:ext cx="7838789" cy="960090"/>
          </a:xfrm>
          <a:prstGeom prst="rect">
            <a:avLst/>
          </a:prstGeom>
          <a:noFill/>
          <a:ln/>
        </p:spPr>
        <p:txBody>
          <a:bodyPr wrap="square" lIns="25400" tIns="25400" rIns="25400" bIns="25400" rtlCol="0" anchor="t">
            <a:normAutofit/>
          </a:bodyPr>
          <a:lstStyle/>
          <a:p>
            <a:pPr algn="l" indent="0" marL="0">
              <a:lnSpc>
                <a:spcPct val="94902"/>
              </a:lnSpc>
              <a:buNone/>
            </a:pPr>
            <a:r>
              <a:rPr lang="en-US" sz="3300" b="1" spc="-66" kern="0" dirty="0">
                <a:solidFill>
                  <a:srgbClr val="FFFFFF"/>
                </a:solidFill>
                <a:latin typeface="Arial" pitchFamily="34" charset="0"/>
                <a:ea typeface="Arial" pitchFamily="34" charset="-122"/>
                <a:cs typeface="Arial" pitchFamily="34" charset="-120"/>
              </a:rPr>
              <a:t>"Feedback arrives scored. I can explain the roadmap."</a:t>
            </a:r>
            <a:endParaRPr lang="en-US" sz="3300" dirty="0"/>
          </a:p>
        </p:txBody>
      </p:sp>
      <p:sp>
        <p:nvSpPr>
          <p:cNvPr id="17" name="Text 15"/>
          <p:cNvSpPr/>
          <p:nvPr/>
        </p:nvSpPr>
        <p:spPr>
          <a:xfrm>
            <a:off x="990600" y="7846665"/>
            <a:ext cx="8371522" cy="352425"/>
          </a:xfrm>
          <a:prstGeom prst="rect">
            <a:avLst/>
          </a:prstGeom>
          <a:noFill/>
          <a:ln/>
        </p:spPr>
        <p:txBody>
          <a:bodyPr wrap="square" lIns="25400" tIns="25400" rIns="25400" bIns="25400" rtlCol="0" anchor="t">
            <a:normAutofit/>
          </a:bodyPr>
          <a:lstStyle/>
          <a:p>
            <a:pPr algn="l" indent="0" marL="0">
              <a:buNone/>
            </a:pPr>
            <a:r>
              <a:rPr lang="en-US" sz="1950" dirty="0">
                <a:solidFill>
                  <a:srgbClr val="94A3B8"/>
                </a:solidFill>
                <a:latin typeface="Arial" pitchFamily="34" charset="0"/>
                <a:ea typeface="Arial" pitchFamily="34" charset="-122"/>
                <a:cs typeface="Arial" pitchFamily="34" charset="-120"/>
              </a:rPr>
              <a:t>Structured feedback and a common prioritization approach.</a:t>
            </a:r>
            <a:endParaRPr lang="en-US" sz="1950" dirty="0"/>
          </a:p>
        </p:txBody>
      </p:sp>
      <p:sp>
        <p:nvSpPr>
          <p:cNvPr id="18" name="Text 16"/>
          <p:cNvSpPr/>
          <p:nvPr/>
        </p:nvSpPr>
        <p:spPr>
          <a:xfrm>
            <a:off x="9677400" y="6319838"/>
            <a:ext cx="838200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5B4FC"/>
                </a:solidFill>
                <a:latin typeface="Arial" pitchFamily="34" charset="0"/>
                <a:ea typeface="Arial" pitchFamily="34" charset="-122"/>
                <a:cs typeface="Arial" pitchFamily="34" charset="-120"/>
              </a:rPr>
              <a:t>LEADER</a:t>
            </a:r>
            <a:endParaRPr lang="en-US" sz="1800" dirty="0"/>
          </a:p>
        </p:txBody>
      </p:sp>
      <p:sp>
        <p:nvSpPr>
          <p:cNvPr id="19" name="Text 17"/>
          <p:cNvSpPr/>
          <p:nvPr/>
        </p:nvSpPr>
        <p:spPr>
          <a:xfrm>
            <a:off x="9677400" y="6753225"/>
            <a:ext cx="8382000"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spc="-66" kern="0" dirty="0">
                <a:solidFill>
                  <a:srgbClr val="FFFFFF"/>
                </a:solidFill>
                <a:latin typeface="Arial" pitchFamily="34" charset="0"/>
                <a:ea typeface="Arial" pitchFamily="34" charset="-122"/>
                <a:cs typeface="Arial" pitchFamily="34" charset="-120"/>
              </a:rPr>
              <a:t>"One view across every app."</a:t>
            </a:r>
            <a:endParaRPr lang="en-US" sz="3300" dirty="0"/>
          </a:p>
        </p:txBody>
      </p:sp>
      <p:sp>
        <p:nvSpPr>
          <p:cNvPr id="20" name="Text 18"/>
          <p:cNvSpPr/>
          <p:nvPr/>
        </p:nvSpPr>
        <p:spPr>
          <a:xfrm>
            <a:off x="9677400" y="7385670"/>
            <a:ext cx="8382000" cy="352425"/>
          </a:xfrm>
          <a:prstGeom prst="rect">
            <a:avLst/>
          </a:prstGeom>
          <a:noFill/>
          <a:ln/>
        </p:spPr>
        <p:txBody>
          <a:bodyPr wrap="square" lIns="25400" tIns="25400" rIns="25400" bIns="25400" rtlCol="0" anchor="t">
            <a:normAutofit/>
          </a:bodyPr>
          <a:lstStyle/>
          <a:p>
            <a:pPr algn="l" indent="0" marL="0">
              <a:buNone/>
            </a:pPr>
            <a:r>
              <a:rPr lang="en-US" sz="1950" dirty="0">
                <a:solidFill>
                  <a:srgbClr val="94A3B8"/>
                </a:solidFill>
                <a:latin typeface="Arial" pitchFamily="34" charset="0"/>
                <a:ea typeface="Arial" pitchFamily="34" charset="-122"/>
                <a:cs typeface="Arial" pitchFamily="34" charset="-120"/>
              </a:rPr>
              <a:t>The control tower: visibility, administration, audit.</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0F4"/>
        </a:solidFill>
      </p:bgPr>
    </p:bg>
    <p:spTree>
      <p:nvGrpSpPr>
        <p:cNvPr id="1" name=""/>
        <p:cNvGrpSpPr/>
        <p:nvPr/>
      </p:nvGrpSpPr>
      <p:grpSpPr>
        <a:xfrm>
          <a:off x="0" y="0"/>
          <a:ext cx="0" cy="0"/>
          <a:chOff x="0" y="0"/>
          <a:chExt cx="0" cy="0"/>
        </a:xfrm>
      </p:grpSpPr>
      <p:sp>
        <p:nvSpPr>
          <p:cNvPr id="2" name="Text 0"/>
          <p:cNvSpPr/>
          <p:nvPr/>
        </p:nvSpPr>
        <p:spPr>
          <a:xfrm>
            <a:off x="990600" y="838200"/>
            <a:ext cx="1793748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06 · THE END STATE</a:t>
            </a:r>
            <a:endParaRPr lang="en-US" sz="1800" dirty="0"/>
          </a:p>
        </p:txBody>
      </p:sp>
      <p:sp>
        <p:nvSpPr>
          <p:cNvPr id="3" name="Text 1"/>
          <p:cNvSpPr/>
          <p:nvPr/>
        </p:nvSpPr>
        <p:spPr>
          <a:xfrm>
            <a:off x="990600" y="1366838"/>
            <a:ext cx="13735050" cy="1409700"/>
          </a:xfrm>
          <a:prstGeom prst="rect">
            <a:avLst/>
          </a:prstGeom>
          <a:noFill/>
          <a:ln/>
        </p:spPr>
        <p:txBody>
          <a:bodyPr wrap="square" lIns="25400" tIns="25400" rIns="25400" bIns="25400" rtlCol="0" anchor="t">
            <a:normAutofit/>
          </a:bodyPr>
          <a:lstStyle/>
          <a:p>
            <a:pPr algn="l" indent="0" marL="0">
              <a:lnSpc>
                <a:spcPct val="86747"/>
              </a:lnSpc>
              <a:buNone/>
            </a:pPr>
            <a:r>
              <a:rPr lang="en-US" sz="5400" b="1" spc="-189" kern="0" dirty="0">
                <a:solidFill>
                  <a:srgbClr val="0F172A"/>
                </a:solidFill>
                <a:latin typeface="Arial" pitchFamily="34" charset="0"/>
                <a:ea typeface="Arial" pitchFamily="34" charset="-122"/>
                <a:cs typeface="Arial" pitchFamily="34" charset="-120"/>
              </a:rPr>
              <a:t>Every DO app gets the same support center, run from one tower</a:t>
            </a:r>
            <a:endParaRPr lang="en-US" sz="5400" dirty="0"/>
          </a:p>
        </p:txBody>
      </p:sp>
      <p:sp>
        <p:nvSpPr>
          <p:cNvPr id="4" name="Shape 2"/>
          <p:cNvSpPr/>
          <p:nvPr/>
        </p:nvSpPr>
        <p:spPr>
          <a:xfrm>
            <a:off x="990600" y="3157538"/>
            <a:ext cx="5232350" cy="4700588"/>
          </a:xfrm>
          <a:prstGeom prst="roundRect">
            <a:avLst>
              <a:gd name="adj" fmla="val 3242"/>
            </a:avLst>
          </a:prstGeom>
          <a:solidFill>
            <a:srgbClr val="FFFFFF"/>
          </a:solidFill>
          <a:ln/>
          <a:effectLst>
            <a:outerShdw sx="100000" sy="100000" kx="0" ky="0" algn="bl" rotWithShape="0" blurRad="476250" dist="152400" dir="5400000">
              <a:srgbClr val="0F172A">
                <a:alpha val="12000"/>
              </a:srgbClr>
            </a:outerShdw>
          </a:effectLst>
        </p:spPr>
      </p:sp>
      <p:sp>
        <p:nvSpPr>
          <p:cNvPr id="5" name="Shape 3"/>
          <p:cNvSpPr/>
          <p:nvPr/>
        </p:nvSpPr>
        <p:spPr>
          <a:xfrm>
            <a:off x="990600" y="3681413"/>
            <a:ext cx="5232350" cy="9525"/>
          </a:xfrm>
          <a:prstGeom prst="rect">
            <a:avLst/>
          </a:prstGeom>
          <a:solidFill>
            <a:srgbClr val="E2E8F0"/>
          </a:solidFill>
          <a:ln/>
        </p:spPr>
      </p:sp>
      <p:sp>
        <p:nvSpPr>
          <p:cNvPr id="6" name="Shape 4"/>
          <p:cNvSpPr/>
          <p:nvPr/>
        </p:nvSpPr>
        <p:spPr>
          <a:xfrm>
            <a:off x="1162050" y="3371850"/>
            <a:ext cx="95250" cy="95250"/>
          </a:xfrm>
          <a:prstGeom prst="ellipse">
            <a:avLst/>
          </a:prstGeom>
          <a:solidFill>
            <a:srgbClr val="E2E8F0"/>
          </a:solidFill>
          <a:ln/>
        </p:spPr>
      </p:sp>
      <p:sp>
        <p:nvSpPr>
          <p:cNvPr id="7" name="Shape 5"/>
          <p:cNvSpPr/>
          <p:nvPr/>
        </p:nvSpPr>
        <p:spPr>
          <a:xfrm>
            <a:off x="1333500" y="3371850"/>
            <a:ext cx="95250" cy="95250"/>
          </a:xfrm>
          <a:prstGeom prst="ellipse">
            <a:avLst/>
          </a:prstGeom>
          <a:solidFill>
            <a:srgbClr val="E2E8F0"/>
          </a:solidFill>
          <a:ln/>
        </p:spPr>
      </p:sp>
      <p:sp>
        <p:nvSpPr>
          <p:cNvPr id="8" name="Text 6"/>
          <p:cNvSpPr/>
          <p:nvPr/>
        </p:nvSpPr>
        <p:spPr>
          <a:xfrm>
            <a:off x="1638300" y="3271838"/>
            <a:ext cx="275304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support.access.internal</a:t>
            </a:r>
            <a:endParaRPr lang="en-US" sz="1800" dirty="0"/>
          </a:p>
        </p:txBody>
      </p:sp>
      <p:sp>
        <p:nvSpPr>
          <p:cNvPr id="9" name="Text 7"/>
          <p:cNvSpPr/>
          <p:nvPr/>
        </p:nvSpPr>
        <p:spPr>
          <a:xfrm>
            <a:off x="990600" y="7991475"/>
            <a:ext cx="575558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ial" pitchFamily="34" charset="0"/>
                <a:ea typeface="Arial" pitchFamily="34" charset="-122"/>
                <a:cs typeface="Arial" pitchFamily="34" charset="-120"/>
              </a:rPr>
              <a:t>Access</a:t>
            </a:r>
            <a:endParaRPr lang="en-US" sz="1950" dirty="0"/>
          </a:p>
        </p:txBody>
      </p:sp>
      <p:sp>
        <p:nvSpPr>
          <p:cNvPr id="10" name="Shape 8"/>
          <p:cNvSpPr/>
          <p:nvPr/>
        </p:nvSpPr>
        <p:spPr>
          <a:xfrm>
            <a:off x="6527750" y="3157538"/>
            <a:ext cx="5232425" cy="4700588"/>
          </a:xfrm>
          <a:prstGeom prst="roundRect">
            <a:avLst>
              <a:gd name="adj" fmla="val 3242"/>
            </a:avLst>
          </a:prstGeom>
          <a:solidFill>
            <a:srgbClr val="FFFFFF"/>
          </a:solidFill>
          <a:ln/>
          <a:effectLst>
            <a:outerShdw sx="100000" sy="100000" kx="0" ky="0" algn="bl" rotWithShape="0" blurRad="476250" dist="152400" dir="5400000">
              <a:srgbClr val="0F172A">
                <a:alpha val="12000"/>
              </a:srgbClr>
            </a:outerShdw>
          </a:effectLst>
        </p:spPr>
      </p:sp>
      <p:sp>
        <p:nvSpPr>
          <p:cNvPr id="11" name="Shape 9"/>
          <p:cNvSpPr/>
          <p:nvPr/>
        </p:nvSpPr>
        <p:spPr>
          <a:xfrm>
            <a:off x="6527750" y="3681413"/>
            <a:ext cx="5232425" cy="9525"/>
          </a:xfrm>
          <a:prstGeom prst="rect">
            <a:avLst/>
          </a:prstGeom>
          <a:solidFill>
            <a:srgbClr val="E2E8F0"/>
          </a:solidFill>
          <a:ln/>
        </p:spPr>
      </p:sp>
      <p:sp>
        <p:nvSpPr>
          <p:cNvPr id="12" name="Shape 10"/>
          <p:cNvSpPr/>
          <p:nvPr/>
        </p:nvSpPr>
        <p:spPr>
          <a:xfrm>
            <a:off x="6699200" y="3371850"/>
            <a:ext cx="95250" cy="95250"/>
          </a:xfrm>
          <a:prstGeom prst="ellipse">
            <a:avLst/>
          </a:prstGeom>
          <a:solidFill>
            <a:srgbClr val="E2E8F0"/>
          </a:solidFill>
          <a:ln/>
        </p:spPr>
      </p:sp>
      <p:sp>
        <p:nvSpPr>
          <p:cNvPr id="13" name="Shape 11"/>
          <p:cNvSpPr/>
          <p:nvPr/>
        </p:nvSpPr>
        <p:spPr>
          <a:xfrm>
            <a:off x="6870650" y="3371850"/>
            <a:ext cx="95250" cy="95250"/>
          </a:xfrm>
          <a:prstGeom prst="ellipse">
            <a:avLst/>
          </a:prstGeom>
          <a:solidFill>
            <a:srgbClr val="E2E8F0"/>
          </a:solidFill>
          <a:ln/>
        </p:spPr>
      </p:sp>
      <p:sp>
        <p:nvSpPr>
          <p:cNvPr id="14" name="Text 12"/>
          <p:cNvSpPr/>
          <p:nvPr/>
        </p:nvSpPr>
        <p:spPr>
          <a:xfrm>
            <a:off x="7175450" y="3271838"/>
            <a:ext cx="272537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support.payroll.internal</a:t>
            </a:r>
            <a:endParaRPr lang="en-US" sz="1800" dirty="0"/>
          </a:p>
        </p:txBody>
      </p:sp>
      <p:sp>
        <p:nvSpPr>
          <p:cNvPr id="15" name="Text 13"/>
          <p:cNvSpPr/>
          <p:nvPr/>
        </p:nvSpPr>
        <p:spPr>
          <a:xfrm>
            <a:off x="6527750" y="7991475"/>
            <a:ext cx="5755667"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ial" pitchFamily="34" charset="0"/>
                <a:ea typeface="Arial" pitchFamily="34" charset="-122"/>
                <a:cs typeface="Arial" pitchFamily="34" charset="-120"/>
              </a:rPr>
              <a:t>Payroll</a:t>
            </a:r>
            <a:endParaRPr lang="en-US" sz="1950" dirty="0"/>
          </a:p>
        </p:txBody>
      </p:sp>
      <p:sp>
        <p:nvSpPr>
          <p:cNvPr id="16" name="Shape 14"/>
          <p:cNvSpPr/>
          <p:nvPr/>
        </p:nvSpPr>
        <p:spPr>
          <a:xfrm>
            <a:off x="12064975" y="3157538"/>
            <a:ext cx="5232350" cy="4700588"/>
          </a:xfrm>
          <a:prstGeom prst="roundRect">
            <a:avLst>
              <a:gd name="adj" fmla="val 3242"/>
            </a:avLst>
          </a:prstGeom>
          <a:solidFill>
            <a:srgbClr val="FFFFFF"/>
          </a:solidFill>
          <a:ln/>
          <a:effectLst>
            <a:outerShdw sx="100000" sy="100000" kx="0" ky="0" algn="bl" rotWithShape="0" blurRad="476250" dist="152400" dir="5400000">
              <a:srgbClr val="0F172A">
                <a:alpha val="12000"/>
              </a:srgbClr>
            </a:outerShdw>
          </a:effectLst>
        </p:spPr>
      </p:sp>
      <p:sp>
        <p:nvSpPr>
          <p:cNvPr id="17" name="Shape 15"/>
          <p:cNvSpPr/>
          <p:nvPr/>
        </p:nvSpPr>
        <p:spPr>
          <a:xfrm>
            <a:off x="12064975" y="3681413"/>
            <a:ext cx="5232350" cy="9525"/>
          </a:xfrm>
          <a:prstGeom prst="rect">
            <a:avLst/>
          </a:prstGeom>
          <a:solidFill>
            <a:srgbClr val="E2E8F0"/>
          </a:solidFill>
          <a:ln/>
        </p:spPr>
      </p:sp>
      <p:sp>
        <p:nvSpPr>
          <p:cNvPr id="18" name="Shape 16"/>
          <p:cNvSpPr/>
          <p:nvPr/>
        </p:nvSpPr>
        <p:spPr>
          <a:xfrm>
            <a:off x="12236425" y="3371850"/>
            <a:ext cx="95250" cy="95250"/>
          </a:xfrm>
          <a:prstGeom prst="ellipse">
            <a:avLst/>
          </a:prstGeom>
          <a:solidFill>
            <a:srgbClr val="E2E8F0"/>
          </a:solidFill>
          <a:ln/>
        </p:spPr>
      </p:sp>
      <p:sp>
        <p:nvSpPr>
          <p:cNvPr id="19" name="Shape 17"/>
          <p:cNvSpPr/>
          <p:nvPr/>
        </p:nvSpPr>
        <p:spPr>
          <a:xfrm>
            <a:off x="12407875" y="3371850"/>
            <a:ext cx="95250" cy="95250"/>
          </a:xfrm>
          <a:prstGeom prst="ellipse">
            <a:avLst/>
          </a:prstGeom>
          <a:solidFill>
            <a:srgbClr val="E2E8F0"/>
          </a:solidFill>
          <a:ln/>
        </p:spPr>
      </p:sp>
      <p:sp>
        <p:nvSpPr>
          <p:cNvPr id="20" name="Text 18"/>
          <p:cNvSpPr/>
          <p:nvPr/>
        </p:nvSpPr>
        <p:spPr>
          <a:xfrm>
            <a:off x="12712675" y="3271838"/>
            <a:ext cx="30484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support.expenses.internal</a:t>
            </a:r>
            <a:endParaRPr lang="en-US" sz="1800" dirty="0"/>
          </a:p>
        </p:txBody>
      </p:sp>
      <p:sp>
        <p:nvSpPr>
          <p:cNvPr id="21" name="Text 19"/>
          <p:cNvSpPr/>
          <p:nvPr/>
        </p:nvSpPr>
        <p:spPr>
          <a:xfrm>
            <a:off x="12064975" y="7991475"/>
            <a:ext cx="575558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ial" pitchFamily="34" charset="0"/>
                <a:ea typeface="Arial" pitchFamily="34" charset="-122"/>
                <a:cs typeface="Arial" pitchFamily="34" charset="-120"/>
              </a:rPr>
              <a:t>Expenses</a:t>
            </a:r>
            <a:endParaRPr lang="en-US" sz="1950" dirty="0"/>
          </a:p>
        </p:txBody>
      </p:sp>
      <p:sp>
        <p:nvSpPr>
          <p:cNvPr id="22" name="Shape 20"/>
          <p:cNvSpPr/>
          <p:nvPr/>
        </p:nvSpPr>
        <p:spPr>
          <a:xfrm>
            <a:off x="3597250" y="8277225"/>
            <a:ext cx="19050" cy="342900"/>
          </a:xfrm>
          <a:prstGeom prst="rect">
            <a:avLst/>
          </a:prstGeom>
          <a:solidFill>
            <a:srgbClr val="A5B4FC"/>
          </a:solidFill>
          <a:ln/>
        </p:spPr>
      </p:sp>
      <p:sp>
        <p:nvSpPr>
          <p:cNvPr id="23" name="Shape 21"/>
          <p:cNvSpPr/>
          <p:nvPr/>
        </p:nvSpPr>
        <p:spPr>
          <a:xfrm>
            <a:off x="9134401" y="8277225"/>
            <a:ext cx="19050" cy="342900"/>
          </a:xfrm>
          <a:prstGeom prst="rect">
            <a:avLst/>
          </a:prstGeom>
          <a:solidFill>
            <a:srgbClr val="A5B4FC"/>
          </a:solidFill>
          <a:ln/>
        </p:spPr>
      </p:sp>
      <p:sp>
        <p:nvSpPr>
          <p:cNvPr id="24" name="Shape 22"/>
          <p:cNvSpPr/>
          <p:nvPr/>
        </p:nvSpPr>
        <p:spPr>
          <a:xfrm>
            <a:off x="14671625" y="8277225"/>
            <a:ext cx="19050" cy="342900"/>
          </a:xfrm>
          <a:prstGeom prst="rect">
            <a:avLst/>
          </a:prstGeom>
          <a:solidFill>
            <a:srgbClr val="A5B4FC"/>
          </a:solidFill>
          <a:ln/>
        </p:spPr>
      </p:sp>
      <p:sp>
        <p:nvSpPr>
          <p:cNvPr id="25" name="Shape 23"/>
          <p:cNvSpPr/>
          <p:nvPr/>
        </p:nvSpPr>
        <p:spPr>
          <a:xfrm>
            <a:off x="990600" y="8620125"/>
            <a:ext cx="16306800" cy="981075"/>
          </a:xfrm>
          <a:prstGeom prst="roundRect">
            <a:avLst>
              <a:gd name="adj" fmla="val 15534"/>
            </a:avLst>
          </a:prstGeom>
          <a:solidFill>
            <a:srgbClr val="4F46E5"/>
          </a:solidFill>
          <a:ln/>
        </p:spPr>
      </p:sp>
      <p:sp>
        <p:nvSpPr>
          <p:cNvPr id="26" name="Text 24"/>
          <p:cNvSpPr/>
          <p:nvPr/>
        </p:nvSpPr>
        <p:spPr>
          <a:xfrm>
            <a:off x="1333500" y="8934450"/>
            <a:ext cx="1993836"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Control tower</a:t>
            </a:r>
            <a:endParaRPr lang="en-US" sz="2400" dirty="0"/>
          </a:p>
        </p:txBody>
      </p:sp>
      <p:sp>
        <p:nvSpPr>
          <p:cNvPr id="27" name="Text 25"/>
          <p:cNvSpPr/>
          <p:nvPr/>
        </p:nvSpPr>
        <p:spPr>
          <a:xfrm>
            <a:off x="3527078" y="8953500"/>
            <a:ext cx="12219466" cy="352425"/>
          </a:xfrm>
          <a:prstGeom prst="rect">
            <a:avLst/>
          </a:prstGeom>
          <a:noFill/>
          <a:ln/>
        </p:spPr>
        <p:txBody>
          <a:bodyPr wrap="square" lIns="25400" tIns="25400" rIns="25400" bIns="25400" rtlCol="0" anchor="t">
            <a:normAutofit/>
          </a:bodyPr>
          <a:lstStyle/>
          <a:p>
            <a:pPr algn="l" indent="0" marL="0">
              <a:buNone/>
            </a:pPr>
            <a:r>
              <a:rPr lang="en-US" sz="1950" dirty="0">
                <a:solidFill>
                  <a:srgbClr val="E0E7FF"/>
                </a:solidFill>
                <a:latin typeface="Arial" pitchFamily="34" charset="0"/>
                <a:ea typeface="Arial" pitchFamily="34" charset="-122"/>
                <a:cs typeface="Arial" pitchFamily="34" charset="-120"/>
              </a:rPr>
              <a:t>Cross-app visibility · shared tiers and approvals · one prioritization method · audit</a:t>
            </a:r>
            <a:endParaRPr lang="en-US" sz="1950" dirty="0"/>
          </a:p>
        </p:txBody>
      </p:sp>
      <p:sp>
        <p:nvSpPr>
          <p:cNvPr id="28" name="Shape 26"/>
          <p:cNvSpPr/>
          <p:nvPr/>
        </p:nvSpPr>
        <p:spPr>
          <a:xfrm>
            <a:off x="15016683" y="8867775"/>
            <a:ext cx="1937817" cy="485775"/>
          </a:xfrm>
          <a:prstGeom prst="roundRect">
            <a:avLst>
              <a:gd name="adj" fmla="val 50000"/>
            </a:avLst>
          </a:prstGeom>
          <a:solidFill>
            <a:srgbClr val="FFFFFF">
              <a:alpha val="16000"/>
            </a:srgbClr>
          </a:solidFill>
          <a:ln/>
        </p:spPr>
      </p:sp>
      <p:sp>
        <p:nvSpPr>
          <p:cNvPr id="29" name="Text 27"/>
          <p:cNvSpPr/>
          <p:nvPr/>
        </p:nvSpPr>
        <p:spPr>
          <a:xfrm>
            <a:off x="15207183" y="8963025"/>
            <a:ext cx="1633017"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Company SSO</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0F4"/>
        </a:solidFill>
      </p:bgPr>
    </p:bg>
    <p:spTree>
      <p:nvGrpSpPr>
        <p:cNvPr id="1" name=""/>
        <p:cNvGrpSpPr/>
        <p:nvPr/>
      </p:nvGrpSpPr>
      <p:grpSpPr>
        <a:xfrm>
          <a:off x="0" y="0"/>
          <a:ext cx="0" cy="0"/>
          <a:chOff x="0" y="0"/>
          <a:chExt cx="0" cy="0"/>
        </a:xfrm>
      </p:grpSpPr>
      <p:sp>
        <p:nvSpPr>
          <p:cNvPr id="2" name="Text 0"/>
          <p:cNvSpPr/>
          <p:nvPr/>
        </p:nvSpPr>
        <p:spPr>
          <a:xfrm>
            <a:off x="990600" y="852488"/>
            <a:ext cx="2684286"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07 · WHAT WE GET</a:t>
            </a:r>
            <a:endParaRPr lang="en-US" sz="1800" dirty="0"/>
          </a:p>
        </p:txBody>
      </p:sp>
      <p:sp>
        <p:nvSpPr>
          <p:cNvPr id="3" name="Text 1"/>
          <p:cNvSpPr/>
          <p:nvPr/>
        </p:nvSpPr>
        <p:spPr>
          <a:xfrm>
            <a:off x="14273213" y="838200"/>
            <a:ext cx="332660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Baseline captured in Phase 1</a:t>
            </a:r>
            <a:endParaRPr lang="en-US" sz="1800" dirty="0"/>
          </a:p>
        </p:txBody>
      </p:sp>
      <p:sp>
        <p:nvSpPr>
          <p:cNvPr id="4" name="Text 2"/>
          <p:cNvSpPr/>
          <p:nvPr/>
        </p:nvSpPr>
        <p:spPr>
          <a:xfrm>
            <a:off x="990600" y="1400175"/>
            <a:ext cx="17937480" cy="723900"/>
          </a:xfrm>
          <a:prstGeom prst="rect">
            <a:avLst/>
          </a:prstGeom>
          <a:noFill/>
          <a:ln/>
        </p:spPr>
        <p:txBody>
          <a:bodyPr wrap="square" lIns="25400" tIns="25400" rIns="25400" bIns="25400" rtlCol="0" anchor="t">
            <a:normAutofit/>
          </a:bodyPr>
          <a:lstStyle/>
          <a:p>
            <a:pPr algn="l" indent="0" marL="0">
              <a:lnSpc>
                <a:spcPct val="86747"/>
              </a:lnSpc>
              <a:buNone/>
            </a:pPr>
            <a:r>
              <a:rPr lang="en-US" sz="5400" b="1" spc="-189" kern="0" dirty="0">
                <a:solidFill>
                  <a:srgbClr val="0F172A"/>
                </a:solidFill>
                <a:latin typeface="Arial" pitchFamily="34" charset="0"/>
                <a:ea typeface="Arial" pitchFamily="34" charset="-122"/>
                <a:cs typeface="Arial" pitchFamily="34" charset="-120"/>
              </a:rPr>
              <a:t>Three returns, tied to strategy and measured</a:t>
            </a:r>
            <a:endParaRPr lang="en-US" sz="5400" dirty="0"/>
          </a:p>
        </p:txBody>
      </p:sp>
      <p:sp>
        <p:nvSpPr>
          <p:cNvPr id="5" name="Shape 3"/>
          <p:cNvSpPr/>
          <p:nvPr/>
        </p:nvSpPr>
        <p:spPr>
          <a:xfrm>
            <a:off x="990600" y="4838700"/>
            <a:ext cx="16306800" cy="9525"/>
          </a:xfrm>
          <a:prstGeom prst="rect">
            <a:avLst/>
          </a:prstGeom>
          <a:solidFill>
            <a:srgbClr val="CBD5E1"/>
          </a:solidFill>
          <a:ln/>
        </p:spPr>
      </p:sp>
      <p:sp>
        <p:nvSpPr>
          <p:cNvPr id="6" name="Text 4"/>
          <p:cNvSpPr/>
          <p:nvPr/>
        </p:nvSpPr>
        <p:spPr>
          <a:xfrm>
            <a:off x="990600" y="2968972"/>
            <a:ext cx="11818620" cy="571500"/>
          </a:xfrm>
          <a:prstGeom prst="rect">
            <a:avLst/>
          </a:prstGeom>
          <a:noFill/>
          <a:ln/>
        </p:spPr>
        <p:txBody>
          <a:bodyPr wrap="square" lIns="25400" tIns="25400" rIns="25400" bIns="25400" rtlCol="0" anchor="t">
            <a:normAutofit/>
          </a:bodyPr>
          <a:lstStyle/>
          <a:p>
            <a:pPr algn="l" indent="0" marL="0">
              <a:lnSpc>
                <a:spcPct val="86822"/>
              </a:lnSpc>
              <a:buNone/>
            </a:pPr>
            <a:r>
              <a:rPr lang="en-US" sz="4200" b="1" spc="-126" kern="0" dirty="0">
                <a:solidFill>
                  <a:srgbClr val="0F172A"/>
                </a:solidFill>
                <a:latin typeface="Arial" pitchFamily="34" charset="0"/>
                <a:ea typeface="Arial" pitchFamily="34" charset="-122"/>
                <a:cs typeface="Arial" pitchFamily="34" charset="-120"/>
              </a:rPr>
              <a:t>Time returned to employees</a:t>
            </a:r>
            <a:endParaRPr lang="en-US" sz="4200" dirty="0"/>
          </a:p>
        </p:txBody>
      </p:sp>
      <p:sp>
        <p:nvSpPr>
          <p:cNvPr id="7" name="Text 5"/>
          <p:cNvSpPr/>
          <p:nvPr/>
        </p:nvSpPr>
        <p:spPr>
          <a:xfrm>
            <a:off x="990600" y="3616672"/>
            <a:ext cx="11066526"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475569"/>
                </a:solidFill>
                <a:latin typeface="Arial" pitchFamily="34" charset="0"/>
                <a:ea typeface="Arial" pitchFamily="34" charset="-122"/>
                <a:cs typeface="Arial" pitchFamily="34" charset="-120"/>
              </a:rPr>
              <a:t>Self-service answers and tracked tickets shorten every issue. Estimated as Δ resolution time × issues per month × employees affected.</a:t>
            </a:r>
            <a:endParaRPr lang="en-US" sz="2100" dirty="0"/>
          </a:p>
        </p:txBody>
      </p:sp>
      <p:sp>
        <p:nvSpPr>
          <p:cNvPr id="8" name="Shape 6"/>
          <p:cNvSpPr/>
          <p:nvPr/>
        </p:nvSpPr>
        <p:spPr>
          <a:xfrm>
            <a:off x="12344400" y="3139976"/>
            <a:ext cx="28575" cy="1025723"/>
          </a:xfrm>
          <a:prstGeom prst="rect">
            <a:avLst/>
          </a:prstGeom>
          <a:solidFill>
            <a:srgbClr val="4F46E5"/>
          </a:solidFill>
          <a:ln/>
        </p:spPr>
      </p:sp>
      <p:sp>
        <p:nvSpPr>
          <p:cNvPr id="9" name="Text 7"/>
          <p:cNvSpPr/>
          <p:nvPr/>
        </p:nvSpPr>
        <p:spPr>
          <a:xfrm>
            <a:off x="12639675" y="3139976"/>
            <a:ext cx="5123498"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EMPLOYEE PRODUCTIVITY</a:t>
            </a:r>
            <a:endParaRPr lang="en-US" sz="1800" dirty="0"/>
          </a:p>
        </p:txBody>
      </p:sp>
      <p:sp>
        <p:nvSpPr>
          <p:cNvPr id="10" name="Text 8"/>
          <p:cNvSpPr/>
          <p:nvPr/>
        </p:nvSpPr>
        <p:spPr>
          <a:xfrm>
            <a:off x="12639675" y="3497163"/>
            <a:ext cx="4797457" cy="706636"/>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0F172A"/>
                </a:solidFill>
                <a:latin typeface="Arial" pitchFamily="34" charset="0"/>
                <a:ea typeface="Arial" pitchFamily="34" charset="-122"/>
                <a:cs typeface="Arial" pitchFamily="34" charset="-120"/>
              </a:rPr>
              <a:t>Measured by resolution time and self-service success</a:t>
            </a:r>
            <a:endParaRPr lang="en-US" sz="1950" dirty="0"/>
          </a:p>
        </p:txBody>
      </p:sp>
      <p:sp>
        <p:nvSpPr>
          <p:cNvPr id="11" name="Shape 9"/>
          <p:cNvSpPr/>
          <p:nvPr/>
        </p:nvSpPr>
        <p:spPr>
          <a:xfrm>
            <a:off x="990600" y="7219950"/>
            <a:ext cx="16306800" cy="9525"/>
          </a:xfrm>
          <a:prstGeom prst="rect">
            <a:avLst/>
          </a:prstGeom>
          <a:solidFill>
            <a:srgbClr val="CBD5E1"/>
          </a:solidFill>
          <a:ln/>
        </p:spPr>
      </p:sp>
      <p:sp>
        <p:nvSpPr>
          <p:cNvPr id="12" name="Text 10"/>
          <p:cNvSpPr/>
          <p:nvPr/>
        </p:nvSpPr>
        <p:spPr>
          <a:xfrm>
            <a:off x="990600" y="5350222"/>
            <a:ext cx="11818620" cy="571500"/>
          </a:xfrm>
          <a:prstGeom prst="rect">
            <a:avLst/>
          </a:prstGeom>
          <a:noFill/>
          <a:ln/>
        </p:spPr>
        <p:txBody>
          <a:bodyPr wrap="square" lIns="25400" tIns="25400" rIns="25400" bIns="25400" rtlCol="0" anchor="t">
            <a:normAutofit/>
          </a:bodyPr>
          <a:lstStyle/>
          <a:p>
            <a:pPr algn="l" indent="0" marL="0">
              <a:lnSpc>
                <a:spcPct val="86822"/>
              </a:lnSpc>
              <a:buNone/>
            </a:pPr>
            <a:r>
              <a:rPr lang="en-US" sz="4200" b="1" spc="-126" kern="0" dirty="0">
                <a:solidFill>
                  <a:srgbClr val="0F172A"/>
                </a:solidFill>
                <a:latin typeface="Arial" pitchFamily="34" charset="0"/>
                <a:ea typeface="Arial" pitchFamily="34" charset="-122"/>
                <a:cs typeface="Arial" pitchFamily="34" charset="-120"/>
              </a:rPr>
              <a:t>Support effort avoided</a:t>
            </a:r>
            <a:endParaRPr lang="en-US" sz="4200" dirty="0"/>
          </a:p>
        </p:txBody>
      </p:sp>
      <p:sp>
        <p:nvSpPr>
          <p:cNvPr id="13" name="Text 11"/>
          <p:cNvSpPr/>
          <p:nvPr/>
        </p:nvSpPr>
        <p:spPr>
          <a:xfrm>
            <a:off x="990600" y="5997922"/>
            <a:ext cx="11066526"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475569"/>
                </a:solidFill>
                <a:latin typeface="Arial" pitchFamily="34" charset="0"/>
                <a:ea typeface="Arial" pitchFamily="34" charset="-122"/>
                <a:cs typeface="Arial" pitchFamily="34" charset="-120"/>
              </a:rPr>
              <a:t>One shared process replaces a new one per app. Estimated as per-app setup and run cost × apps onboarded, plus handoff hours saved.</a:t>
            </a:r>
            <a:endParaRPr lang="en-US" sz="2100" dirty="0"/>
          </a:p>
        </p:txBody>
      </p:sp>
      <p:sp>
        <p:nvSpPr>
          <p:cNvPr id="14" name="Shape 12"/>
          <p:cNvSpPr/>
          <p:nvPr/>
        </p:nvSpPr>
        <p:spPr>
          <a:xfrm>
            <a:off x="12344400" y="5521226"/>
            <a:ext cx="28575" cy="1025723"/>
          </a:xfrm>
          <a:prstGeom prst="rect">
            <a:avLst/>
          </a:prstGeom>
          <a:solidFill>
            <a:srgbClr val="4F46E5"/>
          </a:solidFill>
          <a:ln/>
        </p:spPr>
      </p:sp>
      <p:sp>
        <p:nvSpPr>
          <p:cNvPr id="15" name="Text 13"/>
          <p:cNvSpPr/>
          <p:nvPr/>
        </p:nvSpPr>
        <p:spPr>
          <a:xfrm>
            <a:off x="12639675" y="5521226"/>
            <a:ext cx="5123498"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OPERATIONAL SCALABILITY</a:t>
            </a:r>
            <a:endParaRPr lang="en-US" sz="1800" dirty="0"/>
          </a:p>
        </p:txBody>
      </p:sp>
      <p:sp>
        <p:nvSpPr>
          <p:cNvPr id="16" name="Text 14"/>
          <p:cNvSpPr/>
          <p:nvPr/>
        </p:nvSpPr>
        <p:spPr>
          <a:xfrm>
            <a:off x="12639675" y="5878413"/>
            <a:ext cx="4797457" cy="706636"/>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0F172A"/>
                </a:solidFill>
                <a:latin typeface="Arial" pitchFamily="34" charset="0"/>
                <a:ea typeface="Arial" pitchFamily="34" charset="-122"/>
                <a:cs typeface="Arial" pitchFamily="34" charset="-120"/>
              </a:rPr>
              <a:t>Measured by app onboarding effort and SLA attainment</a:t>
            </a:r>
            <a:endParaRPr lang="en-US" sz="1950" dirty="0"/>
          </a:p>
        </p:txBody>
      </p:sp>
      <p:sp>
        <p:nvSpPr>
          <p:cNvPr id="17" name="Text 15"/>
          <p:cNvSpPr/>
          <p:nvPr/>
        </p:nvSpPr>
        <p:spPr>
          <a:xfrm>
            <a:off x="990600" y="7731472"/>
            <a:ext cx="11818620" cy="571500"/>
          </a:xfrm>
          <a:prstGeom prst="rect">
            <a:avLst/>
          </a:prstGeom>
          <a:noFill/>
          <a:ln/>
        </p:spPr>
        <p:txBody>
          <a:bodyPr wrap="square" lIns="25400" tIns="25400" rIns="25400" bIns="25400" rtlCol="0" anchor="t">
            <a:normAutofit/>
          </a:bodyPr>
          <a:lstStyle/>
          <a:p>
            <a:pPr algn="l" indent="0" marL="0">
              <a:lnSpc>
                <a:spcPct val="86822"/>
              </a:lnSpc>
              <a:buNone/>
            </a:pPr>
            <a:r>
              <a:rPr lang="en-US" sz="4200" b="1" spc="-126" kern="0" dirty="0">
                <a:solidFill>
                  <a:srgbClr val="0F172A"/>
                </a:solidFill>
                <a:latin typeface="Arial" pitchFamily="34" charset="0"/>
                <a:ea typeface="Arial" pitchFamily="34" charset="-122"/>
                <a:cs typeface="Arial" pitchFamily="34" charset="-120"/>
              </a:rPr>
              <a:t>Risk and rework reduced</a:t>
            </a:r>
            <a:endParaRPr lang="en-US" sz="4200" dirty="0"/>
          </a:p>
        </p:txBody>
      </p:sp>
      <p:sp>
        <p:nvSpPr>
          <p:cNvPr id="18" name="Text 16"/>
          <p:cNvSpPr/>
          <p:nvPr/>
        </p:nvSpPr>
        <p:spPr>
          <a:xfrm>
            <a:off x="990600" y="8379172"/>
            <a:ext cx="11066526"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475569"/>
                </a:solidFill>
                <a:latin typeface="Arial" pitchFamily="34" charset="0"/>
                <a:ea typeface="Arial" pitchFamily="34" charset="-122"/>
                <a:cs typeface="Arial" pitchFamily="34" charset="-120"/>
              </a:rPr>
              <a:t>Controlled, attributable actions and explainable priorities. Estimated as incidents avoided × cost per incident, plus rework avoided.</a:t>
            </a:r>
            <a:endParaRPr lang="en-US" sz="2100" dirty="0"/>
          </a:p>
        </p:txBody>
      </p:sp>
      <p:sp>
        <p:nvSpPr>
          <p:cNvPr id="19" name="Shape 17"/>
          <p:cNvSpPr/>
          <p:nvPr/>
        </p:nvSpPr>
        <p:spPr>
          <a:xfrm>
            <a:off x="12344400" y="7771507"/>
            <a:ext cx="28575" cy="1287661"/>
          </a:xfrm>
          <a:prstGeom prst="rect">
            <a:avLst/>
          </a:prstGeom>
          <a:solidFill>
            <a:srgbClr val="4F46E5"/>
          </a:solidFill>
          <a:ln/>
        </p:spPr>
      </p:sp>
      <p:sp>
        <p:nvSpPr>
          <p:cNvPr id="20" name="Text 18"/>
          <p:cNvSpPr/>
          <p:nvPr/>
        </p:nvSpPr>
        <p:spPr>
          <a:xfrm>
            <a:off x="12639675" y="7771507"/>
            <a:ext cx="4797457" cy="561975"/>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SECURITY, ACCOUNTABILITY, PRODUCT IMPROVEMENT</a:t>
            </a:r>
            <a:endParaRPr lang="en-US" sz="1800" dirty="0"/>
          </a:p>
        </p:txBody>
      </p:sp>
      <p:sp>
        <p:nvSpPr>
          <p:cNvPr id="21" name="Text 19"/>
          <p:cNvSpPr/>
          <p:nvPr/>
        </p:nvSpPr>
        <p:spPr>
          <a:xfrm>
            <a:off x="12639675" y="8390632"/>
            <a:ext cx="4797457" cy="706636"/>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0F172A"/>
                </a:solidFill>
                <a:latin typeface="Arial" pitchFamily="34" charset="0"/>
                <a:ea typeface="Arial" pitchFamily="34" charset="-122"/>
                <a:cs typeface="Arial" pitchFamily="34" charset="-120"/>
              </a:rPr>
              <a:t>Measured by audit coverage and employee satisfaction</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0F4"/>
        </a:solidFill>
      </p:bgPr>
    </p:bg>
    <p:spTree>
      <p:nvGrpSpPr>
        <p:cNvPr id="1" name=""/>
        <p:cNvGrpSpPr/>
        <p:nvPr/>
      </p:nvGrpSpPr>
      <p:grpSpPr>
        <a:xfrm>
          <a:off x="0" y="0"/>
          <a:ext cx="0" cy="0"/>
          <a:chOff x="0" y="0"/>
          <a:chExt cx="0" cy="0"/>
        </a:xfrm>
      </p:grpSpPr>
      <p:sp>
        <p:nvSpPr>
          <p:cNvPr id="2" name="Text 0"/>
          <p:cNvSpPr/>
          <p:nvPr/>
        </p:nvSpPr>
        <p:spPr>
          <a:xfrm>
            <a:off x="990600" y="838200"/>
            <a:ext cx="13076657"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08 · HOW WE BUILD IT</a:t>
            </a:r>
            <a:endParaRPr lang="en-US" sz="1800" dirty="0"/>
          </a:p>
        </p:txBody>
      </p:sp>
      <p:sp>
        <p:nvSpPr>
          <p:cNvPr id="3" name="Text 1"/>
          <p:cNvSpPr/>
          <p:nvPr/>
        </p:nvSpPr>
        <p:spPr>
          <a:xfrm>
            <a:off x="990600" y="1366838"/>
            <a:ext cx="12244506" cy="1409700"/>
          </a:xfrm>
          <a:prstGeom prst="rect">
            <a:avLst/>
          </a:prstGeom>
          <a:noFill/>
          <a:ln/>
        </p:spPr>
        <p:txBody>
          <a:bodyPr wrap="square" lIns="25400" tIns="25400" rIns="25400" bIns="25400" rtlCol="0" anchor="t">
            <a:normAutofit/>
          </a:bodyPr>
          <a:lstStyle/>
          <a:p>
            <a:pPr algn="l" indent="0" marL="0">
              <a:lnSpc>
                <a:spcPct val="86747"/>
              </a:lnSpc>
              <a:buNone/>
            </a:pPr>
            <a:r>
              <a:rPr lang="en-US" sz="5400" b="1" spc="-189" kern="0" dirty="0">
                <a:solidFill>
                  <a:srgbClr val="0F172A"/>
                </a:solidFill>
                <a:latin typeface="Arial" pitchFamily="34" charset="0"/>
                <a:ea typeface="Arial" pitchFamily="34" charset="-122"/>
                <a:cs typeface="Arial" pitchFamily="34" charset="-120"/>
              </a:rPr>
              <a:t>Six extensions on a Quackback foundation</a:t>
            </a:r>
            <a:endParaRPr lang="en-US" sz="5400" dirty="0"/>
          </a:p>
        </p:txBody>
      </p:sp>
      <p:sp>
        <p:nvSpPr>
          <p:cNvPr id="4" name="Shape 2"/>
          <p:cNvSpPr/>
          <p:nvPr/>
        </p:nvSpPr>
        <p:spPr>
          <a:xfrm>
            <a:off x="13259470" y="2338388"/>
            <a:ext cx="207169" cy="209550"/>
          </a:xfrm>
          <a:prstGeom prst="roundRect">
            <a:avLst>
              <a:gd name="adj" fmla="val 27586"/>
            </a:avLst>
          </a:prstGeom>
          <a:solidFill>
            <a:srgbClr val="4F46E5"/>
          </a:solidFill>
          <a:ln/>
        </p:spPr>
      </p:sp>
      <p:sp>
        <p:nvSpPr>
          <p:cNvPr id="5" name="Text 3"/>
          <p:cNvSpPr/>
          <p:nvPr/>
        </p:nvSpPr>
        <p:spPr>
          <a:xfrm>
            <a:off x="13580938" y="2147888"/>
            <a:ext cx="592857" cy="628650"/>
          </a:xfrm>
          <a:prstGeom prst="rect">
            <a:avLst/>
          </a:prstGeom>
          <a:noFill/>
          <a:ln/>
        </p:spPr>
        <p:txBody>
          <a:bodyPr wrap="square" lIns="0" tIns="0" rIns="0" bIns="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We build</a:t>
            </a:r>
            <a:endParaRPr lang="en-US" sz="1800" dirty="0"/>
          </a:p>
        </p:txBody>
      </p:sp>
      <p:sp>
        <p:nvSpPr>
          <p:cNvPr id="6" name="Shape 4"/>
          <p:cNvSpPr/>
          <p:nvPr/>
        </p:nvSpPr>
        <p:spPr>
          <a:xfrm>
            <a:off x="14811896" y="2338388"/>
            <a:ext cx="207318" cy="209550"/>
          </a:xfrm>
          <a:prstGeom prst="roundRect">
            <a:avLst>
              <a:gd name="adj" fmla="val 27566"/>
            </a:avLst>
          </a:prstGeom>
          <a:solidFill>
            <a:srgbClr val="FFFFFF"/>
          </a:solidFill>
          <a:ln/>
          <a:effectLst>
            <a:outerShdw sx="100000" sy="100000" kx="0" ky="0" algn="bl" rotWithShape="0" blurRad="101600" dist="50800" dir="16200000">
              <a:srgbClr val="CBD5E1">
                <a:alpha val="100000"/>
              </a:srgbClr>
            </a:outerShdw>
          </a:effectLst>
        </p:spPr>
      </p:sp>
      <p:sp>
        <p:nvSpPr>
          <p:cNvPr id="7" name="Text 5"/>
          <p:cNvSpPr/>
          <p:nvPr/>
        </p:nvSpPr>
        <p:spPr>
          <a:xfrm>
            <a:off x="15133513" y="2147888"/>
            <a:ext cx="1276648" cy="628650"/>
          </a:xfrm>
          <a:prstGeom prst="rect">
            <a:avLst/>
          </a:prstGeom>
          <a:noFill/>
          <a:ln/>
        </p:spPr>
        <p:txBody>
          <a:bodyPr wrap="square" lIns="0" tIns="0" rIns="0" bIns="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Quackback provides</a:t>
            </a:r>
            <a:endParaRPr lang="en-US" sz="1800" dirty="0"/>
          </a:p>
        </p:txBody>
      </p:sp>
      <p:sp>
        <p:nvSpPr>
          <p:cNvPr id="8" name="Shape 6"/>
          <p:cNvSpPr/>
          <p:nvPr/>
        </p:nvSpPr>
        <p:spPr>
          <a:xfrm>
            <a:off x="990600" y="3157538"/>
            <a:ext cx="2606650" cy="4322490"/>
          </a:xfrm>
          <a:custGeom>
            <a:avLst/>
            <a:gdLst/>
            <a:ahLst/>
            <a:cxnLst/>
            <a:rect l="l" t="t" r="r" b="b"/>
            <a:pathLst>
              <a:path w="2606650" h="4322490">
                <a:moveTo>
                  <a:pt x="152400" y="0"/>
                </a:moveTo>
                <a:lnTo>
                  <a:pt x="2454250" y="0"/>
                </a:lnTo>
                <a:arcTo hR="152400" wR="152400" stAng="16200000" swAng="5400000"/>
                <a:lnTo>
                  <a:pt x="2606650" y="4284390"/>
                </a:lnTo>
                <a:arcTo hR="38100" wR="38100" stAng="0" swAng="5400000"/>
                <a:lnTo>
                  <a:pt x="38100" y="4322490"/>
                </a:lnTo>
                <a:arcTo hR="38100" wR="38100" stAng="5400000" swAng="5400000"/>
                <a:lnTo>
                  <a:pt x="0" y="152400"/>
                </a:lnTo>
                <a:arcTo hR="152400" wR="152400" stAng="10800000" swAng="5400000"/>
                <a:close/>
              </a:path>
            </a:pathLst>
          </a:custGeom>
          <a:solidFill>
            <a:srgbClr val="4F46E5"/>
          </a:solidFill>
          <a:ln/>
        </p:spPr>
      </p:sp>
      <p:sp>
        <p:nvSpPr>
          <p:cNvPr id="9" name="Text 7"/>
          <p:cNvSpPr/>
          <p:nvPr/>
        </p:nvSpPr>
        <p:spPr>
          <a:xfrm>
            <a:off x="1219200" y="6249516"/>
            <a:ext cx="2364395" cy="331440"/>
          </a:xfrm>
          <a:prstGeom prst="rect">
            <a:avLst/>
          </a:prstGeom>
          <a:noFill/>
          <a:ln/>
        </p:spPr>
        <p:txBody>
          <a:bodyPr wrap="square" lIns="25400" tIns="25400" rIns="25400" bIns="25400" rtlCol="0" anchor="t">
            <a:normAutofit/>
          </a:bodyPr>
          <a:lstStyle/>
          <a:p>
            <a:pPr algn="l" indent="0" marL="0">
              <a:lnSpc>
                <a:spcPct val="94769"/>
              </a:lnSpc>
              <a:buNone/>
            </a:pPr>
            <a:r>
              <a:rPr lang="en-US" sz="2100" b="1" dirty="0">
                <a:solidFill>
                  <a:srgbClr val="FFFFFF"/>
                </a:solidFill>
                <a:latin typeface="Arial" pitchFamily="34" charset="0"/>
                <a:ea typeface="Arial" pitchFamily="34" charset="-122"/>
                <a:cs typeface="Arial" pitchFamily="34" charset="-120"/>
              </a:rPr>
              <a:t>Control tower</a:t>
            </a:r>
            <a:endParaRPr lang="en-US" sz="2100" dirty="0"/>
          </a:p>
        </p:txBody>
      </p:sp>
      <p:sp>
        <p:nvSpPr>
          <p:cNvPr id="10" name="Text 8"/>
          <p:cNvSpPr/>
          <p:nvPr/>
        </p:nvSpPr>
        <p:spPr>
          <a:xfrm>
            <a:off x="1219200" y="6638106"/>
            <a:ext cx="2225650"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E0E7FF"/>
                </a:solidFill>
                <a:latin typeface="Arial" pitchFamily="34" charset="0"/>
                <a:ea typeface="Arial" pitchFamily="34" charset="-122"/>
                <a:cs typeface="Arial" pitchFamily="34" charset="-120"/>
              </a:rPr>
              <a:t>Oversight across apps</a:t>
            </a:r>
            <a:endParaRPr lang="en-US" sz="1800" dirty="0"/>
          </a:p>
        </p:txBody>
      </p:sp>
      <p:sp>
        <p:nvSpPr>
          <p:cNvPr id="11" name="Shape 9"/>
          <p:cNvSpPr/>
          <p:nvPr/>
        </p:nvSpPr>
        <p:spPr>
          <a:xfrm>
            <a:off x="3730600" y="3157538"/>
            <a:ext cx="2606650" cy="4322490"/>
          </a:xfrm>
          <a:custGeom>
            <a:avLst/>
            <a:gdLst/>
            <a:ahLst/>
            <a:cxnLst/>
            <a:rect l="l" t="t" r="r" b="b"/>
            <a:pathLst>
              <a:path w="2606650" h="4322490">
                <a:moveTo>
                  <a:pt x="152400" y="0"/>
                </a:moveTo>
                <a:lnTo>
                  <a:pt x="2454250" y="0"/>
                </a:lnTo>
                <a:arcTo hR="152400" wR="152400" stAng="16200000" swAng="5400000"/>
                <a:lnTo>
                  <a:pt x="2606650" y="4284390"/>
                </a:lnTo>
                <a:arcTo hR="38100" wR="38100" stAng="0" swAng="5400000"/>
                <a:lnTo>
                  <a:pt x="38100" y="4322490"/>
                </a:lnTo>
                <a:arcTo hR="38100" wR="38100" stAng="5400000" swAng="5400000"/>
                <a:lnTo>
                  <a:pt x="0" y="152400"/>
                </a:lnTo>
                <a:arcTo hR="152400" wR="152400" stAng="10800000" swAng="5400000"/>
                <a:close/>
              </a:path>
            </a:pathLst>
          </a:custGeom>
          <a:solidFill>
            <a:srgbClr val="4F46E5"/>
          </a:solidFill>
          <a:ln/>
        </p:spPr>
      </p:sp>
      <p:sp>
        <p:nvSpPr>
          <p:cNvPr id="12" name="Text 10"/>
          <p:cNvSpPr/>
          <p:nvPr/>
        </p:nvSpPr>
        <p:spPr>
          <a:xfrm>
            <a:off x="3959200" y="5956176"/>
            <a:ext cx="2225650" cy="624780"/>
          </a:xfrm>
          <a:prstGeom prst="rect">
            <a:avLst/>
          </a:prstGeom>
          <a:noFill/>
          <a:ln/>
        </p:spPr>
        <p:txBody>
          <a:bodyPr wrap="square" lIns="25400" tIns="25400" rIns="25400" bIns="25400" rtlCol="0" anchor="t">
            <a:normAutofit/>
          </a:bodyPr>
          <a:lstStyle/>
          <a:p>
            <a:pPr algn="l" indent="0" marL="0">
              <a:lnSpc>
                <a:spcPct val="94769"/>
              </a:lnSpc>
              <a:buNone/>
            </a:pPr>
            <a:r>
              <a:rPr lang="en-US" sz="2100" b="1" dirty="0">
                <a:solidFill>
                  <a:srgbClr val="FFFFFF"/>
                </a:solidFill>
                <a:latin typeface="Arial" pitchFamily="34" charset="0"/>
                <a:ea typeface="Arial" pitchFamily="34" charset="-122"/>
                <a:cs typeface="Arial" pitchFamily="34" charset="-120"/>
              </a:rPr>
              <a:t>Tiered support hub</a:t>
            </a:r>
            <a:endParaRPr lang="en-US" sz="2100" dirty="0"/>
          </a:p>
        </p:txBody>
      </p:sp>
      <p:sp>
        <p:nvSpPr>
          <p:cNvPr id="13" name="Text 11"/>
          <p:cNvSpPr/>
          <p:nvPr/>
        </p:nvSpPr>
        <p:spPr>
          <a:xfrm>
            <a:off x="3959200" y="6638106"/>
            <a:ext cx="2225650"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E0E7FF"/>
                </a:solidFill>
                <a:latin typeface="Arial" pitchFamily="34" charset="0"/>
                <a:ea typeface="Arial" pitchFamily="34" charset="-122"/>
                <a:cs typeface="Arial" pitchFamily="34" charset="-120"/>
              </a:rPr>
              <a:t>One entry point, T1–T3</a:t>
            </a:r>
            <a:endParaRPr lang="en-US" sz="1800" dirty="0"/>
          </a:p>
        </p:txBody>
      </p:sp>
      <p:sp>
        <p:nvSpPr>
          <p:cNvPr id="14" name="Shape 12"/>
          <p:cNvSpPr/>
          <p:nvPr/>
        </p:nvSpPr>
        <p:spPr>
          <a:xfrm>
            <a:off x="6470600" y="3157538"/>
            <a:ext cx="2606650" cy="4322490"/>
          </a:xfrm>
          <a:custGeom>
            <a:avLst/>
            <a:gdLst/>
            <a:ahLst/>
            <a:cxnLst/>
            <a:rect l="l" t="t" r="r" b="b"/>
            <a:pathLst>
              <a:path w="2606650" h="4322490">
                <a:moveTo>
                  <a:pt x="152400" y="0"/>
                </a:moveTo>
                <a:lnTo>
                  <a:pt x="2454250" y="0"/>
                </a:lnTo>
                <a:arcTo hR="152400" wR="152400" stAng="16200000" swAng="5400000"/>
                <a:lnTo>
                  <a:pt x="2606650" y="4284390"/>
                </a:lnTo>
                <a:arcTo hR="38100" wR="38100" stAng="0" swAng="5400000"/>
                <a:lnTo>
                  <a:pt x="38100" y="4322490"/>
                </a:lnTo>
                <a:arcTo hR="38100" wR="38100" stAng="5400000" swAng="5400000"/>
                <a:lnTo>
                  <a:pt x="0" y="152400"/>
                </a:lnTo>
                <a:arcTo hR="152400" wR="152400" stAng="10800000" swAng="5400000"/>
                <a:close/>
              </a:path>
            </a:pathLst>
          </a:custGeom>
          <a:solidFill>
            <a:srgbClr val="4F46E5"/>
          </a:solidFill>
          <a:ln/>
        </p:spPr>
      </p:sp>
      <p:sp>
        <p:nvSpPr>
          <p:cNvPr id="15" name="Text 13"/>
          <p:cNvSpPr/>
          <p:nvPr/>
        </p:nvSpPr>
        <p:spPr>
          <a:xfrm>
            <a:off x="6699200" y="5956176"/>
            <a:ext cx="2225650" cy="624780"/>
          </a:xfrm>
          <a:prstGeom prst="rect">
            <a:avLst/>
          </a:prstGeom>
          <a:noFill/>
          <a:ln/>
        </p:spPr>
        <p:txBody>
          <a:bodyPr wrap="square" lIns="25400" tIns="25400" rIns="25400" bIns="25400" rtlCol="0" anchor="t">
            <a:normAutofit/>
          </a:bodyPr>
          <a:lstStyle/>
          <a:p>
            <a:pPr algn="l" indent="0" marL="0">
              <a:lnSpc>
                <a:spcPct val="94769"/>
              </a:lnSpc>
              <a:buNone/>
            </a:pPr>
            <a:r>
              <a:rPr lang="en-US" sz="2100" b="1" dirty="0">
                <a:solidFill>
                  <a:srgbClr val="FFFFFF"/>
                </a:solidFill>
                <a:latin typeface="Arial" pitchFamily="34" charset="0"/>
                <a:ea typeface="Arial" pitchFamily="34" charset="-122"/>
                <a:cs typeface="Arial" pitchFamily="34" charset="-120"/>
              </a:rPr>
              <a:t>Connected-app actions</a:t>
            </a:r>
            <a:endParaRPr lang="en-US" sz="2100" dirty="0"/>
          </a:p>
        </p:txBody>
      </p:sp>
      <p:sp>
        <p:nvSpPr>
          <p:cNvPr id="16" name="Text 14"/>
          <p:cNvSpPr/>
          <p:nvPr/>
        </p:nvSpPr>
        <p:spPr>
          <a:xfrm>
            <a:off x="6699200" y="6638106"/>
            <a:ext cx="2225650"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E0E7FF"/>
                </a:solidFill>
                <a:latin typeface="Arial" pitchFamily="34" charset="0"/>
                <a:ea typeface="Arial" pitchFamily="34" charset="-122"/>
                <a:cs typeface="Arial" pitchFamily="34" charset="-120"/>
              </a:rPr>
              <a:t>Controlled fixes from a ticket</a:t>
            </a:r>
            <a:endParaRPr lang="en-US" sz="1800" dirty="0"/>
          </a:p>
        </p:txBody>
      </p:sp>
      <p:sp>
        <p:nvSpPr>
          <p:cNvPr id="17" name="Shape 15"/>
          <p:cNvSpPr/>
          <p:nvPr/>
        </p:nvSpPr>
        <p:spPr>
          <a:xfrm>
            <a:off x="9210601" y="3157538"/>
            <a:ext cx="2606725" cy="4322490"/>
          </a:xfrm>
          <a:custGeom>
            <a:avLst/>
            <a:gdLst/>
            <a:ahLst/>
            <a:cxnLst/>
            <a:rect l="l" t="t" r="r" b="b"/>
            <a:pathLst>
              <a:path w="2606725" h="4322490">
                <a:moveTo>
                  <a:pt x="152400" y="0"/>
                </a:moveTo>
                <a:lnTo>
                  <a:pt x="2454325" y="0"/>
                </a:lnTo>
                <a:arcTo hR="152400" wR="152400" stAng="16200000" swAng="5400000"/>
                <a:lnTo>
                  <a:pt x="2606725" y="4284390"/>
                </a:lnTo>
                <a:arcTo hR="38100" wR="38100" stAng="0" swAng="5400000"/>
                <a:lnTo>
                  <a:pt x="38100" y="4322490"/>
                </a:lnTo>
                <a:arcTo hR="38100" wR="38100" stAng="5400000" swAng="5400000"/>
                <a:lnTo>
                  <a:pt x="0" y="152400"/>
                </a:lnTo>
                <a:arcTo hR="152400" wR="152400" stAng="10800000" swAng="5400000"/>
                <a:close/>
              </a:path>
            </a:pathLst>
          </a:custGeom>
          <a:solidFill>
            <a:srgbClr val="4F46E5"/>
          </a:solidFill>
          <a:ln/>
        </p:spPr>
      </p:sp>
      <p:sp>
        <p:nvSpPr>
          <p:cNvPr id="18" name="Text 16"/>
          <p:cNvSpPr/>
          <p:nvPr/>
        </p:nvSpPr>
        <p:spPr>
          <a:xfrm>
            <a:off x="9439201" y="5956176"/>
            <a:ext cx="2225725" cy="624780"/>
          </a:xfrm>
          <a:prstGeom prst="rect">
            <a:avLst/>
          </a:prstGeom>
          <a:noFill/>
          <a:ln/>
        </p:spPr>
        <p:txBody>
          <a:bodyPr wrap="square" lIns="25400" tIns="25400" rIns="25400" bIns="25400" rtlCol="0" anchor="t">
            <a:normAutofit/>
          </a:bodyPr>
          <a:lstStyle/>
          <a:p>
            <a:pPr algn="l" indent="0" marL="0">
              <a:lnSpc>
                <a:spcPct val="94769"/>
              </a:lnSpc>
              <a:buNone/>
            </a:pPr>
            <a:r>
              <a:rPr lang="en-US" sz="2100" b="1" dirty="0">
                <a:solidFill>
                  <a:srgbClr val="FFFFFF"/>
                </a:solidFill>
                <a:latin typeface="Arial" pitchFamily="34" charset="0"/>
                <a:ea typeface="Arial" pitchFamily="34" charset="-122"/>
                <a:cs typeface="Arial" pitchFamily="34" charset="-120"/>
              </a:rPr>
              <a:t>Prioritization scoring</a:t>
            </a:r>
            <a:endParaRPr lang="en-US" sz="2100" dirty="0"/>
          </a:p>
        </p:txBody>
      </p:sp>
      <p:sp>
        <p:nvSpPr>
          <p:cNvPr id="19" name="Text 17"/>
          <p:cNvSpPr/>
          <p:nvPr/>
        </p:nvSpPr>
        <p:spPr>
          <a:xfrm>
            <a:off x="9439201" y="6638106"/>
            <a:ext cx="2225725"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E0E7FF"/>
                </a:solidFill>
                <a:latin typeface="Arial" pitchFamily="34" charset="0"/>
                <a:ea typeface="Arial" pitchFamily="34" charset="-122"/>
                <a:cs typeface="Arial" pitchFamily="34" charset="-120"/>
              </a:rPr>
              <a:t>Structured feedback review</a:t>
            </a:r>
            <a:endParaRPr lang="en-US" sz="1800" dirty="0"/>
          </a:p>
        </p:txBody>
      </p:sp>
      <p:sp>
        <p:nvSpPr>
          <p:cNvPr id="20" name="Shape 18"/>
          <p:cNvSpPr/>
          <p:nvPr/>
        </p:nvSpPr>
        <p:spPr>
          <a:xfrm>
            <a:off x="11950675" y="3157538"/>
            <a:ext cx="2606650" cy="4322490"/>
          </a:xfrm>
          <a:custGeom>
            <a:avLst/>
            <a:gdLst/>
            <a:ahLst/>
            <a:cxnLst/>
            <a:rect l="l" t="t" r="r" b="b"/>
            <a:pathLst>
              <a:path w="2606650" h="4322490">
                <a:moveTo>
                  <a:pt x="152400" y="0"/>
                </a:moveTo>
                <a:lnTo>
                  <a:pt x="2454250" y="0"/>
                </a:lnTo>
                <a:arcTo hR="152400" wR="152400" stAng="16200000" swAng="5400000"/>
                <a:lnTo>
                  <a:pt x="2606650" y="4284390"/>
                </a:lnTo>
                <a:arcTo hR="38100" wR="38100" stAng="0" swAng="5400000"/>
                <a:lnTo>
                  <a:pt x="38100" y="4322490"/>
                </a:lnTo>
                <a:arcTo hR="38100" wR="38100" stAng="5400000" swAng="5400000"/>
                <a:lnTo>
                  <a:pt x="0" y="152400"/>
                </a:lnTo>
                <a:arcTo hR="152400" wR="152400" stAng="10800000" swAng="5400000"/>
                <a:close/>
              </a:path>
            </a:pathLst>
          </a:custGeom>
          <a:solidFill>
            <a:srgbClr val="4F46E5"/>
          </a:solidFill>
          <a:ln/>
        </p:spPr>
      </p:sp>
      <p:sp>
        <p:nvSpPr>
          <p:cNvPr id="21" name="Text 19"/>
          <p:cNvSpPr/>
          <p:nvPr/>
        </p:nvSpPr>
        <p:spPr>
          <a:xfrm>
            <a:off x="12179275" y="6249516"/>
            <a:ext cx="2364395" cy="331440"/>
          </a:xfrm>
          <a:prstGeom prst="rect">
            <a:avLst/>
          </a:prstGeom>
          <a:noFill/>
          <a:ln/>
        </p:spPr>
        <p:txBody>
          <a:bodyPr wrap="square" lIns="25400" tIns="25400" rIns="25400" bIns="25400" rtlCol="0" anchor="t">
            <a:normAutofit/>
          </a:bodyPr>
          <a:lstStyle/>
          <a:p>
            <a:pPr algn="l" indent="0" marL="0">
              <a:lnSpc>
                <a:spcPct val="94769"/>
              </a:lnSpc>
              <a:buNone/>
            </a:pPr>
            <a:r>
              <a:rPr lang="en-US" sz="2100" b="1" dirty="0">
                <a:solidFill>
                  <a:srgbClr val="FFFFFF"/>
                </a:solidFill>
                <a:latin typeface="Arial" pitchFamily="34" charset="0"/>
                <a:ea typeface="Arial" pitchFamily="34" charset="-122"/>
                <a:cs typeface="Arial" pitchFamily="34" charset="-120"/>
              </a:rPr>
              <a:t>Announcements</a:t>
            </a:r>
            <a:endParaRPr lang="en-US" sz="2100" dirty="0"/>
          </a:p>
        </p:txBody>
      </p:sp>
      <p:sp>
        <p:nvSpPr>
          <p:cNvPr id="22" name="Text 20"/>
          <p:cNvSpPr/>
          <p:nvPr/>
        </p:nvSpPr>
        <p:spPr>
          <a:xfrm>
            <a:off x="12179275" y="6638106"/>
            <a:ext cx="2225650"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E0E7FF"/>
                </a:solidFill>
                <a:latin typeface="Arial" pitchFamily="34" charset="0"/>
                <a:ea typeface="Arial" pitchFamily="34" charset="-122"/>
                <a:cs typeface="Arial" pitchFamily="34" charset="-120"/>
              </a:rPr>
              <a:t>Notices and incident updates</a:t>
            </a:r>
            <a:endParaRPr lang="en-US" sz="1800" dirty="0"/>
          </a:p>
        </p:txBody>
      </p:sp>
      <p:sp>
        <p:nvSpPr>
          <p:cNvPr id="23" name="Shape 21"/>
          <p:cNvSpPr/>
          <p:nvPr/>
        </p:nvSpPr>
        <p:spPr>
          <a:xfrm>
            <a:off x="14690675" y="3157538"/>
            <a:ext cx="2606650" cy="4322490"/>
          </a:xfrm>
          <a:custGeom>
            <a:avLst/>
            <a:gdLst/>
            <a:ahLst/>
            <a:cxnLst/>
            <a:rect l="l" t="t" r="r" b="b"/>
            <a:pathLst>
              <a:path w="2606650" h="4322490">
                <a:moveTo>
                  <a:pt x="152400" y="0"/>
                </a:moveTo>
                <a:lnTo>
                  <a:pt x="2454250" y="0"/>
                </a:lnTo>
                <a:arcTo hR="152400" wR="152400" stAng="16200000" swAng="5400000"/>
                <a:lnTo>
                  <a:pt x="2606650" y="4284390"/>
                </a:lnTo>
                <a:arcTo hR="38100" wR="38100" stAng="0" swAng="5400000"/>
                <a:lnTo>
                  <a:pt x="38100" y="4322490"/>
                </a:lnTo>
                <a:arcTo hR="38100" wR="38100" stAng="5400000" swAng="5400000"/>
                <a:lnTo>
                  <a:pt x="0" y="152400"/>
                </a:lnTo>
                <a:arcTo hR="152400" wR="152400" stAng="10800000" swAng="5400000"/>
                <a:close/>
              </a:path>
            </a:pathLst>
          </a:custGeom>
          <a:solidFill>
            <a:srgbClr val="4F46E5"/>
          </a:solidFill>
          <a:ln/>
        </p:spPr>
      </p:sp>
      <p:sp>
        <p:nvSpPr>
          <p:cNvPr id="24" name="Text 22"/>
          <p:cNvSpPr/>
          <p:nvPr/>
        </p:nvSpPr>
        <p:spPr>
          <a:xfrm>
            <a:off x="14919275" y="5956176"/>
            <a:ext cx="2225650" cy="624780"/>
          </a:xfrm>
          <a:prstGeom prst="rect">
            <a:avLst/>
          </a:prstGeom>
          <a:noFill/>
          <a:ln/>
        </p:spPr>
        <p:txBody>
          <a:bodyPr wrap="square" lIns="25400" tIns="25400" rIns="25400" bIns="25400" rtlCol="0" anchor="t">
            <a:normAutofit/>
          </a:bodyPr>
          <a:lstStyle/>
          <a:p>
            <a:pPr algn="l" indent="0" marL="0">
              <a:lnSpc>
                <a:spcPct val="94769"/>
              </a:lnSpc>
              <a:buNone/>
            </a:pPr>
            <a:r>
              <a:rPr lang="en-US" sz="2100" b="1" dirty="0">
                <a:solidFill>
                  <a:srgbClr val="FFFFFF"/>
                </a:solidFill>
                <a:latin typeface="Arial" pitchFamily="34" charset="0"/>
                <a:ea typeface="Arial" pitchFamily="34" charset="-122"/>
                <a:cs typeface="Arial" pitchFamily="34" charset="-120"/>
              </a:rPr>
              <a:t>Shared foundation</a:t>
            </a:r>
            <a:endParaRPr lang="en-US" sz="2100" dirty="0"/>
          </a:p>
        </p:txBody>
      </p:sp>
      <p:sp>
        <p:nvSpPr>
          <p:cNvPr id="25" name="Text 23"/>
          <p:cNvSpPr/>
          <p:nvPr/>
        </p:nvSpPr>
        <p:spPr>
          <a:xfrm>
            <a:off x="14919275" y="6638106"/>
            <a:ext cx="2225650"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E0E7FF"/>
                </a:solidFill>
                <a:latin typeface="Arial" pitchFamily="34" charset="0"/>
                <a:ea typeface="Arial" pitchFamily="34" charset="-122"/>
                <a:cs typeface="Arial" pitchFamily="34" charset="-120"/>
              </a:rPr>
              <a:t>Roles, SSO, attribution, audit</a:t>
            </a:r>
            <a:endParaRPr lang="en-US" sz="1800" dirty="0"/>
          </a:p>
        </p:txBody>
      </p:sp>
      <p:sp>
        <p:nvSpPr>
          <p:cNvPr id="26" name="Shape 24"/>
          <p:cNvSpPr/>
          <p:nvPr/>
        </p:nvSpPr>
        <p:spPr>
          <a:xfrm>
            <a:off x="990600" y="7613377"/>
            <a:ext cx="16306800" cy="1987823"/>
          </a:xfrm>
          <a:custGeom>
            <a:avLst/>
            <a:gdLst/>
            <a:ahLst/>
            <a:cxnLst/>
            <a:rect l="l" t="t" r="r" b="b"/>
            <a:pathLst>
              <a:path w="16306800" h="1987823">
                <a:moveTo>
                  <a:pt x="38100" y="0"/>
                </a:moveTo>
                <a:lnTo>
                  <a:pt x="16268700" y="0"/>
                </a:lnTo>
                <a:arcTo hR="38100" wR="38100" stAng="16200000" swAng="5400000"/>
                <a:lnTo>
                  <a:pt x="16306800" y="1797323"/>
                </a:lnTo>
                <a:arcTo hR="190500" wR="190500" stAng="0" swAng="5400000"/>
                <a:lnTo>
                  <a:pt x="190500" y="1987823"/>
                </a:lnTo>
                <a:arcTo hR="190500" wR="190500" stAng="5400000" swAng="5400000"/>
                <a:lnTo>
                  <a:pt x="0" y="38100"/>
                </a:lnTo>
                <a:arcTo hR="38100" wR="38100" stAng="10800000" swAng="5400000"/>
                <a:close/>
              </a:path>
            </a:pathLst>
          </a:custGeom>
          <a:solidFill>
            <a:srgbClr val="FFFFFF"/>
          </a:solidFill>
          <a:ln/>
          <a:effectLst>
            <a:outerShdw sx="100000" sy="100000" kx="0" ky="0" algn="bl" rotWithShape="0" blurRad="476250" dist="152400" dir="5400000">
              <a:srgbClr val="0F172A">
                <a:alpha val="10000"/>
              </a:srgbClr>
            </a:outerShdw>
          </a:effectLst>
        </p:spPr>
      </p:sp>
      <p:sp>
        <p:nvSpPr>
          <p:cNvPr id="27" name="Text 25"/>
          <p:cNvSpPr/>
          <p:nvPr/>
        </p:nvSpPr>
        <p:spPr>
          <a:xfrm>
            <a:off x="1333500" y="7918177"/>
            <a:ext cx="272415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0F172A"/>
                </a:solidFill>
                <a:latin typeface="Arial" pitchFamily="34" charset="0"/>
                <a:ea typeface="Arial" pitchFamily="34" charset="-122"/>
                <a:cs typeface="Arial" pitchFamily="34" charset="-120"/>
              </a:rPr>
              <a:t>Quackback</a:t>
            </a:r>
            <a:endParaRPr lang="en-US" sz="2250" dirty="0"/>
          </a:p>
        </p:txBody>
      </p:sp>
      <p:sp>
        <p:nvSpPr>
          <p:cNvPr id="28" name="Text 26"/>
          <p:cNvSpPr/>
          <p:nvPr/>
        </p:nvSpPr>
        <p:spPr>
          <a:xfrm>
            <a:off x="1333500" y="8322990"/>
            <a:ext cx="2552700" cy="929506"/>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64748B"/>
                </a:solidFill>
                <a:latin typeface="Arial" pitchFamily="34" charset="0"/>
                <a:ea typeface="Arial" pitchFamily="34" charset="-122"/>
                <a:cs typeface="Arial" pitchFamily="34" charset="-120"/>
              </a:rPr>
              <a:t>Our fork, compatibility-tested against upstream</a:t>
            </a:r>
            <a:endParaRPr lang="en-US" sz="1800" dirty="0"/>
          </a:p>
        </p:txBody>
      </p:sp>
      <p:sp>
        <p:nvSpPr>
          <p:cNvPr id="29" name="Text 27"/>
          <p:cNvSpPr/>
          <p:nvPr/>
        </p:nvSpPr>
        <p:spPr>
          <a:xfrm>
            <a:off x="4114800" y="7918177"/>
            <a:ext cx="448437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4748B"/>
                </a:solidFill>
                <a:latin typeface="Arial" pitchFamily="34" charset="0"/>
                <a:ea typeface="Arial" pitchFamily="34" charset="-122"/>
                <a:cs typeface="Arial" pitchFamily="34" charset="-120"/>
              </a:rPr>
              <a:t>EMPLOYEE EXPERIENCE</a:t>
            </a:r>
            <a:endParaRPr lang="en-US" sz="1800" dirty="0"/>
          </a:p>
        </p:txBody>
      </p:sp>
      <p:sp>
        <p:nvSpPr>
          <p:cNvPr id="30" name="Text 28"/>
          <p:cNvSpPr/>
          <p:nvPr/>
        </p:nvSpPr>
        <p:spPr>
          <a:xfrm>
            <a:off x="4114800" y="8256315"/>
            <a:ext cx="4199001" cy="73149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0F172A"/>
                </a:solidFill>
                <a:latin typeface="Arial" pitchFamily="34" charset="0"/>
                <a:ea typeface="Arial" pitchFamily="34" charset="-122"/>
                <a:cs typeface="Arial" pitchFamily="34" charset="-120"/>
              </a:rPr>
              <a:t>Knowledge articles · Conversations · Tickets · App and widget surfaces</a:t>
            </a:r>
            <a:endParaRPr lang="en-US" sz="1950" dirty="0"/>
          </a:p>
        </p:txBody>
      </p:sp>
      <p:sp>
        <p:nvSpPr>
          <p:cNvPr id="31" name="Text 29"/>
          <p:cNvSpPr/>
          <p:nvPr/>
        </p:nvSpPr>
        <p:spPr>
          <a:xfrm>
            <a:off x="8496300" y="7918177"/>
            <a:ext cx="448437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4748B"/>
                </a:solidFill>
                <a:latin typeface="Arial" pitchFamily="34" charset="0"/>
                <a:ea typeface="Arial" pitchFamily="34" charset="-122"/>
                <a:cs typeface="Arial" pitchFamily="34" charset="-120"/>
              </a:rPr>
              <a:t>SUPPORT OPERATIONS</a:t>
            </a:r>
            <a:endParaRPr lang="en-US" sz="1800" dirty="0"/>
          </a:p>
        </p:txBody>
      </p:sp>
      <p:sp>
        <p:nvSpPr>
          <p:cNvPr id="32" name="Text 30"/>
          <p:cNvSpPr/>
          <p:nvPr/>
        </p:nvSpPr>
        <p:spPr>
          <a:xfrm>
            <a:off x="8496300" y="8256315"/>
            <a:ext cx="4199001" cy="1078185"/>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0F172A"/>
                </a:solidFill>
                <a:latin typeface="Arial" pitchFamily="34" charset="0"/>
                <a:ea typeface="Arial" pitchFamily="34" charset="-122"/>
                <a:cs typeface="Arial" pitchFamily="34" charset="-120"/>
              </a:rPr>
              <a:t>Workflows · Teams and permissions · SLA tracking · AI features</a:t>
            </a:r>
            <a:endParaRPr lang="en-US" sz="1950" dirty="0"/>
          </a:p>
        </p:txBody>
      </p:sp>
      <p:sp>
        <p:nvSpPr>
          <p:cNvPr id="33" name="Text 31"/>
          <p:cNvSpPr/>
          <p:nvPr/>
        </p:nvSpPr>
        <p:spPr>
          <a:xfrm>
            <a:off x="12877800" y="7918177"/>
            <a:ext cx="448437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4748B"/>
                </a:solidFill>
                <a:latin typeface="Arial" pitchFamily="34" charset="0"/>
                <a:ea typeface="Arial" pitchFamily="34" charset="-122"/>
                <a:cs typeface="Arial" pitchFamily="34" charset="-120"/>
              </a:rPr>
              <a:t>PRODUCT FEEDBACK</a:t>
            </a:r>
            <a:endParaRPr lang="en-US" sz="1800" dirty="0"/>
          </a:p>
        </p:txBody>
      </p:sp>
      <p:sp>
        <p:nvSpPr>
          <p:cNvPr id="34" name="Text 32"/>
          <p:cNvSpPr/>
          <p:nvPr/>
        </p:nvSpPr>
        <p:spPr>
          <a:xfrm>
            <a:off x="12877800" y="8256315"/>
            <a:ext cx="4484370" cy="384795"/>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0F172A"/>
                </a:solidFill>
                <a:latin typeface="Arial" pitchFamily="34" charset="0"/>
                <a:ea typeface="Arial" pitchFamily="34" charset="-122"/>
                <a:cs typeface="Arial" pitchFamily="34" charset="-120"/>
              </a:rPr>
              <a:t>Feedback · Roadmaps · Changelog</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0F4"/>
        </a:solidFill>
      </p:bgPr>
    </p:bg>
    <p:spTree>
      <p:nvGrpSpPr>
        <p:cNvPr id="1" name=""/>
        <p:cNvGrpSpPr/>
        <p:nvPr/>
      </p:nvGrpSpPr>
      <p:grpSpPr>
        <a:xfrm>
          <a:off x="0" y="0"/>
          <a:ext cx="0" cy="0"/>
          <a:chOff x="0" y="0"/>
          <a:chExt cx="0" cy="0"/>
        </a:xfrm>
      </p:grpSpPr>
      <p:sp>
        <p:nvSpPr>
          <p:cNvPr id="2" name="Text 0"/>
          <p:cNvSpPr/>
          <p:nvPr/>
        </p:nvSpPr>
        <p:spPr>
          <a:xfrm>
            <a:off x="990600" y="838200"/>
            <a:ext cx="1793748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09 · ARCHITECTURE</a:t>
            </a:r>
            <a:endParaRPr lang="en-US" sz="1800" dirty="0"/>
          </a:p>
        </p:txBody>
      </p:sp>
      <p:sp>
        <p:nvSpPr>
          <p:cNvPr id="3" name="Text 1"/>
          <p:cNvSpPr/>
          <p:nvPr/>
        </p:nvSpPr>
        <p:spPr>
          <a:xfrm>
            <a:off x="990600" y="1366838"/>
            <a:ext cx="17937480" cy="723900"/>
          </a:xfrm>
          <a:prstGeom prst="rect">
            <a:avLst/>
          </a:prstGeom>
          <a:noFill/>
          <a:ln/>
        </p:spPr>
        <p:txBody>
          <a:bodyPr wrap="square" lIns="25400" tIns="25400" rIns="25400" bIns="25400" rtlCol="0" anchor="t">
            <a:normAutofit/>
          </a:bodyPr>
          <a:lstStyle/>
          <a:p>
            <a:pPr algn="l" indent="0" marL="0">
              <a:lnSpc>
                <a:spcPct val="86747"/>
              </a:lnSpc>
              <a:buNone/>
            </a:pPr>
            <a:r>
              <a:rPr lang="en-US" sz="5400" b="1" spc="-189" kern="0" dirty="0">
                <a:solidFill>
                  <a:srgbClr val="0F172A"/>
                </a:solidFill>
                <a:latin typeface="Arial" pitchFamily="34" charset="0"/>
                <a:ea typeface="Arial" pitchFamily="34" charset="-122"/>
                <a:cs typeface="Arial" pitchFamily="34" charset="-120"/>
              </a:rPr>
              <a:t>Everything runs inside the company network</a:t>
            </a:r>
            <a:endParaRPr lang="en-US" sz="5400" dirty="0"/>
          </a:p>
        </p:txBody>
      </p:sp>
      <p:sp>
        <p:nvSpPr>
          <p:cNvPr id="4" name="Text 2"/>
          <p:cNvSpPr/>
          <p:nvPr/>
        </p:nvSpPr>
        <p:spPr>
          <a:xfrm>
            <a:off x="990600" y="3883968"/>
            <a:ext cx="4905375" cy="1118146"/>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334155"/>
                </a:solidFill>
                <a:latin typeface="Arial" pitchFamily="34" charset="0"/>
                <a:ea typeface="Arial" pitchFamily="34" charset="-122"/>
                <a:cs typeface="Arial" pitchFamily="34" charset="-120"/>
              </a:rPr>
              <a:t>Reuse existing Quackback features; isolate custom functionality where practical.</a:t>
            </a:r>
            <a:endParaRPr lang="en-US" sz="2100" dirty="0"/>
          </a:p>
        </p:txBody>
      </p:sp>
      <p:sp>
        <p:nvSpPr>
          <p:cNvPr id="5" name="Text 3"/>
          <p:cNvSpPr/>
          <p:nvPr/>
        </p:nvSpPr>
        <p:spPr>
          <a:xfrm>
            <a:off x="990600" y="5211663"/>
            <a:ext cx="4905375"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334155"/>
                </a:solidFill>
                <a:latin typeface="Arial" pitchFamily="34" charset="0"/>
                <a:ea typeface="Arial" pitchFamily="34" charset="-122"/>
                <a:cs typeface="Arial" pitchFamily="34" charset="-120"/>
              </a:rPr>
              <a:t>Run a separate control tower alongside the app instances.</a:t>
            </a:r>
            <a:endParaRPr lang="en-US" sz="2100" dirty="0"/>
          </a:p>
        </p:txBody>
      </p:sp>
      <p:sp>
        <p:nvSpPr>
          <p:cNvPr id="6" name="Text 4"/>
          <p:cNvSpPr/>
          <p:nvPr/>
        </p:nvSpPr>
        <p:spPr>
          <a:xfrm>
            <a:off x="990600" y="6179344"/>
            <a:ext cx="4905375"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334155"/>
                </a:solidFill>
                <a:latin typeface="Arial" pitchFamily="34" charset="0"/>
                <a:ea typeface="Arial" pitchFamily="34" charset="-122"/>
                <a:cs typeface="Arial" pitchFamily="34" charset="-120"/>
              </a:rPr>
              <a:t>Maintain explicit integration contracts and automated tests.</a:t>
            </a:r>
            <a:endParaRPr lang="en-US" sz="2100" dirty="0"/>
          </a:p>
        </p:txBody>
      </p:sp>
      <p:sp>
        <p:nvSpPr>
          <p:cNvPr id="7" name="Text 5"/>
          <p:cNvSpPr/>
          <p:nvPr/>
        </p:nvSpPr>
        <p:spPr>
          <a:xfrm>
            <a:off x="990600" y="7147024"/>
            <a:ext cx="4905375" cy="1118146"/>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334155"/>
                </a:solidFill>
                <a:latin typeface="Arial" pitchFamily="34" charset="0"/>
                <a:ea typeface="Arial" pitchFamily="34" charset="-122"/>
                <a:cs typeface="Arial" pitchFamily="34" charset="-120"/>
              </a:rPr>
              <a:t>Validate upgrades and recovery against populated environments before deployment.</a:t>
            </a:r>
            <a:endParaRPr lang="en-US" sz="2100" dirty="0"/>
          </a:p>
        </p:txBody>
      </p:sp>
      <p:sp>
        <p:nvSpPr>
          <p:cNvPr id="8" name="Shape 6"/>
          <p:cNvSpPr/>
          <p:nvPr/>
        </p:nvSpPr>
        <p:spPr>
          <a:xfrm>
            <a:off x="6362700" y="2509838"/>
            <a:ext cx="8420100" cy="7091363"/>
          </a:xfrm>
          <a:prstGeom prst="roundRect">
            <a:avLst>
              <a:gd name="adj" fmla="val 3224"/>
            </a:avLst>
          </a:prstGeom>
          <a:solidFill>
            <a:srgbClr val="FFFFFF"/>
          </a:solidFill>
          <a:ln/>
          <a:effectLst>
            <a:outerShdw sx="100000" sy="100000" kx="0" ky="0" algn="bl" rotWithShape="0" blurRad="476250" dist="152400" dir="5400000">
              <a:srgbClr val="0F172A">
                <a:alpha val="10000"/>
              </a:srgbClr>
            </a:outerShdw>
          </a:effectLst>
        </p:spPr>
      </p:sp>
      <p:sp>
        <p:nvSpPr>
          <p:cNvPr id="9" name="Text 7"/>
          <p:cNvSpPr/>
          <p:nvPr/>
        </p:nvSpPr>
        <p:spPr>
          <a:xfrm>
            <a:off x="6667500" y="2814638"/>
            <a:ext cx="859155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4748B"/>
                </a:solidFill>
                <a:latin typeface="Arial" pitchFamily="34" charset="0"/>
                <a:ea typeface="Arial" pitchFamily="34" charset="-122"/>
                <a:cs typeface="Arial" pitchFamily="34" charset="-120"/>
              </a:rPr>
              <a:t>COMPANY NETWORK · PRIVATE AWS</a:t>
            </a:r>
            <a:endParaRPr lang="en-US" sz="1800" dirty="0"/>
          </a:p>
        </p:txBody>
      </p:sp>
      <p:sp>
        <p:nvSpPr>
          <p:cNvPr id="10" name="Shape 8"/>
          <p:cNvSpPr/>
          <p:nvPr/>
        </p:nvSpPr>
        <p:spPr>
          <a:xfrm>
            <a:off x="6667500" y="3248025"/>
            <a:ext cx="7810500" cy="709613"/>
          </a:xfrm>
          <a:prstGeom prst="roundRect">
            <a:avLst>
              <a:gd name="adj" fmla="val 18792"/>
            </a:avLst>
          </a:prstGeom>
          <a:solidFill>
            <a:srgbClr val="0F172A"/>
          </a:solidFill>
          <a:ln/>
        </p:spPr>
      </p:sp>
      <p:sp>
        <p:nvSpPr>
          <p:cNvPr id="11" name="Text 9"/>
          <p:cNvSpPr/>
          <p:nvPr/>
        </p:nvSpPr>
        <p:spPr>
          <a:xfrm>
            <a:off x="6934200" y="3438525"/>
            <a:ext cx="1869251"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Control tower</a:t>
            </a:r>
            <a:endParaRPr lang="en-US" sz="2250" dirty="0"/>
          </a:p>
        </p:txBody>
      </p:sp>
      <p:sp>
        <p:nvSpPr>
          <p:cNvPr id="12" name="Text 10"/>
          <p:cNvSpPr/>
          <p:nvPr/>
        </p:nvSpPr>
        <p:spPr>
          <a:xfrm>
            <a:off x="12259494" y="3455194"/>
            <a:ext cx="2146987" cy="333375"/>
          </a:xfrm>
          <a:prstGeom prst="rect">
            <a:avLst/>
          </a:prstGeom>
          <a:noFill/>
          <a:ln/>
        </p:spPr>
        <p:txBody>
          <a:bodyPr wrap="square" lIns="25400" tIns="25400" rIns="25400" bIns="25400" rtlCol="0" anchor="t">
            <a:normAutofit/>
          </a:bodyPr>
          <a:lstStyle/>
          <a:p>
            <a:pPr algn="l" indent="0" marL="0">
              <a:buNone/>
            </a:pPr>
            <a:r>
              <a:rPr lang="en-US" sz="1800" dirty="0">
                <a:solidFill>
                  <a:srgbClr val="CBD5E1"/>
                </a:solidFill>
                <a:latin typeface="Arial" pitchFamily="34" charset="0"/>
                <a:ea typeface="Arial" pitchFamily="34" charset="-122"/>
                <a:cs typeface="Arial" pitchFamily="34" charset="-120"/>
              </a:rPr>
              <a:t>Separate instance</a:t>
            </a:r>
            <a:endParaRPr lang="en-US" sz="1800" dirty="0"/>
          </a:p>
        </p:txBody>
      </p:sp>
      <p:sp>
        <p:nvSpPr>
          <p:cNvPr id="13" name="Shape 11"/>
          <p:cNvSpPr/>
          <p:nvPr/>
        </p:nvSpPr>
        <p:spPr>
          <a:xfrm>
            <a:off x="6667500" y="4129088"/>
            <a:ext cx="2501875" cy="3843338"/>
          </a:xfrm>
          <a:prstGeom prst="roundRect">
            <a:avLst>
              <a:gd name="adj" fmla="val 5330"/>
            </a:avLst>
          </a:prstGeom>
          <a:solidFill>
            <a:srgbClr val="EEF0F4"/>
          </a:solidFill>
          <a:ln/>
        </p:spPr>
      </p:sp>
      <p:sp>
        <p:nvSpPr>
          <p:cNvPr id="14" name="Text 12"/>
          <p:cNvSpPr/>
          <p:nvPr/>
        </p:nvSpPr>
        <p:spPr>
          <a:xfrm>
            <a:off x="6858000" y="4300538"/>
            <a:ext cx="2197075" cy="3538538"/>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0F172A"/>
                </a:solidFill>
                <a:highlight>
                  <a:srgbClr val="EEF0F4"/>
                </a:highlight>
                <a:latin typeface="Arial" pitchFamily="34" charset="0"/>
                <a:ea typeface="Arial" pitchFamily="34" charset="-122"/>
                <a:cs typeface="Arial" pitchFamily="34" charset="-120"/>
              </a:rPr>
              <a:t>Quackback fork </a:t>
            </a:r>
            <a:pPr algn="l" indent="0" marL="0">
              <a:lnSpc>
                <a:spcPct val="112667"/>
              </a:lnSpc>
              <a:buNone/>
            </a:pPr>
            <a:r>
              <a:rPr lang="en-US" sz="1950" dirty="0">
                <a:solidFill>
                  <a:srgbClr val="64748B"/>
                </a:solidFill>
                <a:latin typeface="Arial" pitchFamily="34" charset="0"/>
                <a:ea typeface="Arial" pitchFamily="34" charset="-122"/>
                <a:cs typeface="Arial" pitchFamily="34" charset="-120"/>
              </a:rPr>
              <a:t>Access</a:t>
            </a:r>
            <a:endParaRPr lang="en-US" sz="1950" dirty="0"/>
          </a:p>
        </p:txBody>
      </p:sp>
      <p:sp>
        <p:nvSpPr>
          <p:cNvPr id="15" name="Shape 13"/>
          <p:cNvSpPr/>
          <p:nvPr/>
        </p:nvSpPr>
        <p:spPr>
          <a:xfrm>
            <a:off x="6667500" y="8067675"/>
            <a:ext cx="2501875" cy="528638"/>
          </a:xfrm>
          <a:prstGeom prst="roundRect">
            <a:avLst>
              <a:gd name="adj" fmla="val 25225"/>
            </a:avLst>
          </a:prstGeom>
          <a:ln w="19050">
            <a:solidFill>
              <a:srgbClr val="4F46E5"/>
            </a:solidFill>
            <a:prstDash val="solid"/>
          </a:ln>
        </p:spPr>
      </p:sp>
      <p:sp>
        <p:nvSpPr>
          <p:cNvPr id="16" name="Text 14"/>
          <p:cNvSpPr/>
          <p:nvPr/>
        </p:nvSpPr>
        <p:spPr>
          <a:xfrm>
            <a:off x="6819900" y="8201025"/>
            <a:ext cx="2197075" cy="300038"/>
          </a:xfrm>
          <a:prstGeom prst="rect">
            <a:avLst/>
          </a:prstGeom>
          <a:noFill/>
          <a:ln/>
        </p:spPr>
        <p:txBody>
          <a:bodyPr wrap="square" lIns="25400" tIns="25400" rIns="25400" bIns="25400" rtlCol="0" anchor="t">
            <a:normAutofit/>
          </a:bodyPr>
          <a:lstStyle/>
          <a:p>
            <a:pPr algn="ctr" indent="0" marL="0">
              <a:buNone/>
            </a:pPr>
            <a:r>
              <a:rPr lang="en-US" sz="1800" b="1" dirty="0">
                <a:solidFill>
                  <a:srgbClr val="4F46E5"/>
                </a:solidFill>
                <a:latin typeface="Arial" pitchFamily="34" charset="0"/>
                <a:ea typeface="Arial" pitchFamily="34" charset="-122"/>
                <a:cs typeface="Arial" pitchFamily="34" charset="-120"/>
              </a:rPr>
              <a:t>Connected app</a:t>
            </a:r>
            <a:endParaRPr lang="en-US" sz="1800" dirty="0"/>
          </a:p>
        </p:txBody>
      </p:sp>
      <p:sp>
        <p:nvSpPr>
          <p:cNvPr id="17" name="Shape 15"/>
          <p:cNvSpPr/>
          <p:nvPr/>
        </p:nvSpPr>
        <p:spPr>
          <a:xfrm>
            <a:off x="9321775" y="4129088"/>
            <a:ext cx="2501875" cy="3843338"/>
          </a:xfrm>
          <a:prstGeom prst="roundRect">
            <a:avLst>
              <a:gd name="adj" fmla="val 5330"/>
            </a:avLst>
          </a:prstGeom>
          <a:solidFill>
            <a:srgbClr val="EEF0F4"/>
          </a:solidFill>
          <a:ln/>
        </p:spPr>
      </p:sp>
      <p:sp>
        <p:nvSpPr>
          <p:cNvPr id="18" name="Text 16"/>
          <p:cNvSpPr/>
          <p:nvPr/>
        </p:nvSpPr>
        <p:spPr>
          <a:xfrm>
            <a:off x="9512275" y="4300538"/>
            <a:ext cx="2197075" cy="3538538"/>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0F172A"/>
                </a:solidFill>
                <a:highlight>
                  <a:srgbClr val="EEF0F4"/>
                </a:highlight>
                <a:latin typeface="Arial" pitchFamily="34" charset="0"/>
                <a:ea typeface="Arial" pitchFamily="34" charset="-122"/>
                <a:cs typeface="Arial" pitchFamily="34" charset="-120"/>
              </a:rPr>
              <a:t>Quackback fork </a:t>
            </a:r>
            <a:pPr algn="l" indent="0" marL="0">
              <a:lnSpc>
                <a:spcPct val="112667"/>
              </a:lnSpc>
              <a:buNone/>
            </a:pPr>
            <a:r>
              <a:rPr lang="en-US" sz="1950" dirty="0">
                <a:solidFill>
                  <a:srgbClr val="64748B"/>
                </a:solidFill>
                <a:latin typeface="Arial" pitchFamily="34" charset="0"/>
                <a:ea typeface="Arial" pitchFamily="34" charset="-122"/>
                <a:cs typeface="Arial" pitchFamily="34" charset="-120"/>
              </a:rPr>
              <a:t>Payroll</a:t>
            </a:r>
            <a:endParaRPr lang="en-US" sz="1950" dirty="0"/>
          </a:p>
        </p:txBody>
      </p:sp>
      <p:sp>
        <p:nvSpPr>
          <p:cNvPr id="19" name="Shape 17"/>
          <p:cNvSpPr/>
          <p:nvPr/>
        </p:nvSpPr>
        <p:spPr>
          <a:xfrm>
            <a:off x="9321775" y="8067675"/>
            <a:ext cx="2501875" cy="528638"/>
          </a:xfrm>
          <a:prstGeom prst="roundRect">
            <a:avLst>
              <a:gd name="adj" fmla="val 25225"/>
            </a:avLst>
          </a:prstGeom>
          <a:ln w="19050">
            <a:solidFill>
              <a:srgbClr val="4F46E5"/>
            </a:solidFill>
            <a:prstDash val="solid"/>
          </a:ln>
        </p:spPr>
      </p:sp>
      <p:sp>
        <p:nvSpPr>
          <p:cNvPr id="20" name="Text 18"/>
          <p:cNvSpPr/>
          <p:nvPr/>
        </p:nvSpPr>
        <p:spPr>
          <a:xfrm>
            <a:off x="9474175" y="8201025"/>
            <a:ext cx="2197075" cy="300038"/>
          </a:xfrm>
          <a:prstGeom prst="rect">
            <a:avLst/>
          </a:prstGeom>
          <a:noFill/>
          <a:ln/>
        </p:spPr>
        <p:txBody>
          <a:bodyPr wrap="square" lIns="25400" tIns="25400" rIns="25400" bIns="25400" rtlCol="0" anchor="t">
            <a:normAutofit/>
          </a:bodyPr>
          <a:lstStyle/>
          <a:p>
            <a:pPr algn="ctr" indent="0" marL="0">
              <a:buNone/>
            </a:pPr>
            <a:r>
              <a:rPr lang="en-US" sz="1800" b="1" dirty="0">
                <a:solidFill>
                  <a:srgbClr val="4F46E5"/>
                </a:solidFill>
                <a:latin typeface="Arial" pitchFamily="34" charset="0"/>
                <a:ea typeface="Arial" pitchFamily="34" charset="-122"/>
                <a:cs typeface="Arial" pitchFamily="34" charset="-120"/>
              </a:rPr>
              <a:t>Connected app</a:t>
            </a:r>
            <a:endParaRPr lang="en-US" sz="1800" dirty="0"/>
          </a:p>
        </p:txBody>
      </p:sp>
      <p:sp>
        <p:nvSpPr>
          <p:cNvPr id="21" name="Shape 19"/>
          <p:cNvSpPr/>
          <p:nvPr/>
        </p:nvSpPr>
        <p:spPr>
          <a:xfrm>
            <a:off x="11976050" y="4129088"/>
            <a:ext cx="2501875" cy="3843338"/>
          </a:xfrm>
          <a:prstGeom prst="roundRect">
            <a:avLst>
              <a:gd name="adj" fmla="val 5330"/>
            </a:avLst>
          </a:prstGeom>
          <a:solidFill>
            <a:srgbClr val="EEF0F4"/>
          </a:solidFill>
          <a:ln/>
        </p:spPr>
      </p:sp>
      <p:sp>
        <p:nvSpPr>
          <p:cNvPr id="22" name="Text 20"/>
          <p:cNvSpPr/>
          <p:nvPr/>
        </p:nvSpPr>
        <p:spPr>
          <a:xfrm>
            <a:off x="12166550" y="4300538"/>
            <a:ext cx="2197075" cy="3538538"/>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0F172A"/>
                </a:solidFill>
                <a:highlight>
                  <a:srgbClr val="EEF0F4"/>
                </a:highlight>
                <a:latin typeface="Arial" pitchFamily="34" charset="0"/>
                <a:ea typeface="Arial" pitchFamily="34" charset="-122"/>
                <a:cs typeface="Arial" pitchFamily="34" charset="-120"/>
              </a:rPr>
              <a:t>Quackback fork </a:t>
            </a:r>
            <a:pPr algn="l" indent="0" marL="0">
              <a:lnSpc>
                <a:spcPct val="112667"/>
              </a:lnSpc>
              <a:buNone/>
            </a:pPr>
            <a:r>
              <a:rPr lang="en-US" sz="1950" dirty="0">
                <a:solidFill>
                  <a:srgbClr val="64748B"/>
                </a:solidFill>
                <a:latin typeface="Arial" pitchFamily="34" charset="0"/>
                <a:ea typeface="Arial" pitchFamily="34" charset="-122"/>
                <a:cs typeface="Arial" pitchFamily="34" charset="-120"/>
              </a:rPr>
              <a:t>Expenses</a:t>
            </a:r>
            <a:endParaRPr lang="en-US" sz="1950" dirty="0"/>
          </a:p>
        </p:txBody>
      </p:sp>
      <p:sp>
        <p:nvSpPr>
          <p:cNvPr id="23" name="Shape 21"/>
          <p:cNvSpPr/>
          <p:nvPr/>
        </p:nvSpPr>
        <p:spPr>
          <a:xfrm>
            <a:off x="11976050" y="8067675"/>
            <a:ext cx="2501875" cy="528638"/>
          </a:xfrm>
          <a:prstGeom prst="roundRect">
            <a:avLst>
              <a:gd name="adj" fmla="val 25225"/>
            </a:avLst>
          </a:prstGeom>
          <a:ln w="19050">
            <a:solidFill>
              <a:srgbClr val="4F46E5"/>
            </a:solidFill>
            <a:prstDash val="solid"/>
          </a:ln>
        </p:spPr>
      </p:sp>
      <p:sp>
        <p:nvSpPr>
          <p:cNvPr id="24" name="Text 22"/>
          <p:cNvSpPr/>
          <p:nvPr/>
        </p:nvSpPr>
        <p:spPr>
          <a:xfrm>
            <a:off x="12128450" y="8201025"/>
            <a:ext cx="2197075" cy="300038"/>
          </a:xfrm>
          <a:prstGeom prst="rect">
            <a:avLst/>
          </a:prstGeom>
          <a:noFill/>
          <a:ln/>
        </p:spPr>
        <p:txBody>
          <a:bodyPr wrap="square" lIns="25400" tIns="25400" rIns="25400" bIns="25400" rtlCol="0" anchor="t">
            <a:normAutofit/>
          </a:bodyPr>
          <a:lstStyle/>
          <a:p>
            <a:pPr algn="ctr" indent="0" marL="0">
              <a:buNone/>
            </a:pPr>
            <a:r>
              <a:rPr lang="en-US" sz="1800" b="1" dirty="0">
                <a:solidFill>
                  <a:srgbClr val="4F46E5"/>
                </a:solidFill>
                <a:latin typeface="Arial" pitchFamily="34" charset="0"/>
                <a:ea typeface="Arial" pitchFamily="34" charset="-122"/>
                <a:cs typeface="Arial" pitchFamily="34" charset="-120"/>
              </a:rPr>
              <a:t>Connected app</a:t>
            </a:r>
            <a:endParaRPr lang="en-US" sz="1800" dirty="0"/>
          </a:p>
        </p:txBody>
      </p:sp>
      <p:sp>
        <p:nvSpPr>
          <p:cNvPr id="25" name="Shape 23"/>
          <p:cNvSpPr/>
          <p:nvPr/>
        </p:nvSpPr>
        <p:spPr>
          <a:xfrm>
            <a:off x="6667500" y="8767763"/>
            <a:ext cx="2501875" cy="528638"/>
          </a:xfrm>
          <a:prstGeom prst="roundRect">
            <a:avLst>
              <a:gd name="adj" fmla="val 21622"/>
            </a:avLst>
          </a:prstGeom>
          <a:solidFill>
            <a:srgbClr val="E0E7FF"/>
          </a:solidFill>
          <a:ln/>
        </p:spPr>
      </p:sp>
      <p:sp>
        <p:nvSpPr>
          <p:cNvPr id="26" name="Text 24"/>
          <p:cNvSpPr/>
          <p:nvPr/>
        </p:nvSpPr>
        <p:spPr>
          <a:xfrm>
            <a:off x="6800850" y="8901113"/>
            <a:ext cx="2235175" cy="300038"/>
          </a:xfrm>
          <a:prstGeom prst="rect">
            <a:avLst/>
          </a:prstGeom>
          <a:noFill/>
          <a:ln/>
        </p:spPr>
        <p:txBody>
          <a:bodyPr wrap="square" lIns="25400" tIns="25400" rIns="25400" bIns="25400" rtlCol="0" anchor="t">
            <a:normAutofit/>
          </a:bodyPr>
          <a:lstStyle/>
          <a:p>
            <a:pPr algn="ctr" indent="0" marL="0">
              <a:buNone/>
            </a:pPr>
            <a:r>
              <a:rPr lang="en-US" sz="1800" b="1" dirty="0">
                <a:solidFill>
                  <a:srgbClr val="3730A3"/>
                </a:solidFill>
                <a:latin typeface="Arial" pitchFamily="34" charset="0"/>
                <a:ea typeface="Arial" pitchFamily="34" charset="-122"/>
                <a:cs typeface="Arial" pitchFamily="34" charset="-120"/>
              </a:rPr>
              <a:t>Company SSO</a:t>
            </a:r>
            <a:endParaRPr lang="en-US" sz="1800" dirty="0"/>
          </a:p>
        </p:txBody>
      </p:sp>
      <p:sp>
        <p:nvSpPr>
          <p:cNvPr id="27" name="Shape 25"/>
          <p:cNvSpPr/>
          <p:nvPr/>
        </p:nvSpPr>
        <p:spPr>
          <a:xfrm>
            <a:off x="9321775" y="8767763"/>
            <a:ext cx="2501875" cy="528638"/>
          </a:xfrm>
          <a:prstGeom prst="roundRect">
            <a:avLst>
              <a:gd name="adj" fmla="val 21622"/>
            </a:avLst>
          </a:prstGeom>
          <a:solidFill>
            <a:srgbClr val="E0E7FF"/>
          </a:solidFill>
          <a:ln/>
        </p:spPr>
      </p:sp>
      <p:sp>
        <p:nvSpPr>
          <p:cNvPr id="28" name="Text 26"/>
          <p:cNvSpPr/>
          <p:nvPr/>
        </p:nvSpPr>
        <p:spPr>
          <a:xfrm>
            <a:off x="9455125" y="8901113"/>
            <a:ext cx="2235175" cy="300038"/>
          </a:xfrm>
          <a:prstGeom prst="rect">
            <a:avLst/>
          </a:prstGeom>
          <a:noFill/>
          <a:ln/>
        </p:spPr>
        <p:txBody>
          <a:bodyPr wrap="square" lIns="25400" tIns="25400" rIns="25400" bIns="25400" rtlCol="0" anchor="t">
            <a:normAutofit/>
          </a:bodyPr>
          <a:lstStyle/>
          <a:p>
            <a:pPr algn="ctr" indent="0" marL="0">
              <a:buNone/>
            </a:pPr>
            <a:r>
              <a:rPr lang="en-US" sz="1800" b="1" dirty="0">
                <a:solidFill>
                  <a:srgbClr val="3730A3"/>
                </a:solidFill>
                <a:latin typeface="Arial" pitchFamily="34" charset="0"/>
                <a:ea typeface="Arial" pitchFamily="34" charset="-122"/>
                <a:cs typeface="Arial" pitchFamily="34" charset="-120"/>
              </a:rPr>
              <a:t>Internal email</a:t>
            </a:r>
            <a:endParaRPr lang="en-US" sz="1800" dirty="0"/>
          </a:p>
        </p:txBody>
      </p:sp>
      <p:sp>
        <p:nvSpPr>
          <p:cNvPr id="29" name="Shape 27"/>
          <p:cNvSpPr/>
          <p:nvPr/>
        </p:nvSpPr>
        <p:spPr>
          <a:xfrm>
            <a:off x="11976050" y="8767763"/>
            <a:ext cx="2501875" cy="528638"/>
          </a:xfrm>
          <a:prstGeom prst="roundRect">
            <a:avLst>
              <a:gd name="adj" fmla="val 21622"/>
            </a:avLst>
          </a:prstGeom>
          <a:solidFill>
            <a:srgbClr val="E0E7FF"/>
          </a:solidFill>
          <a:ln/>
        </p:spPr>
      </p:sp>
      <p:sp>
        <p:nvSpPr>
          <p:cNvPr id="30" name="Text 28"/>
          <p:cNvSpPr/>
          <p:nvPr/>
        </p:nvSpPr>
        <p:spPr>
          <a:xfrm>
            <a:off x="12109400" y="8901113"/>
            <a:ext cx="2235175" cy="300038"/>
          </a:xfrm>
          <a:prstGeom prst="rect">
            <a:avLst/>
          </a:prstGeom>
          <a:noFill/>
          <a:ln/>
        </p:spPr>
        <p:txBody>
          <a:bodyPr wrap="square" lIns="25400" tIns="25400" rIns="25400" bIns="25400" rtlCol="0" anchor="t">
            <a:normAutofit/>
          </a:bodyPr>
          <a:lstStyle/>
          <a:p>
            <a:pPr algn="ctr" indent="0" marL="0">
              <a:buNone/>
            </a:pPr>
            <a:r>
              <a:rPr lang="en-US" sz="1800" b="1" dirty="0">
                <a:solidFill>
                  <a:srgbClr val="3730A3"/>
                </a:solidFill>
                <a:latin typeface="Arial" pitchFamily="34" charset="0"/>
                <a:ea typeface="Arial" pitchFamily="34" charset="-122"/>
                <a:cs typeface="Arial" pitchFamily="34" charset="-120"/>
              </a:rPr>
              <a:t>Internal AI proxy</a:t>
            </a:r>
            <a:endParaRPr lang="en-US" sz="1800" dirty="0"/>
          </a:p>
        </p:txBody>
      </p:sp>
      <p:sp>
        <p:nvSpPr>
          <p:cNvPr id="31" name="Shape 29"/>
          <p:cNvSpPr/>
          <p:nvPr/>
        </p:nvSpPr>
        <p:spPr>
          <a:xfrm>
            <a:off x="15011400" y="4786908"/>
            <a:ext cx="2286000" cy="1744861"/>
          </a:xfrm>
          <a:prstGeom prst="roundRect">
            <a:avLst>
              <a:gd name="adj" fmla="val 8734"/>
            </a:avLst>
          </a:prstGeom>
          <a:ln w="19050">
            <a:solidFill>
              <a:srgbClr val="94A3B8"/>
            </a:solidFill>
            <a:prstDash val="dash"/>
          </a:ln>
        </p:spPr>
      </p:sp>
      <p:sp>
        <p:nvSpPr>
          <p:cNvPr id="32" name="Text 30"/>
          <p:cNvSpPr/>
          <p:nvPr/>
        </p:nvSpPr>
        <p:spPr>
          <a:xfrm>
            <a:off x="15201900" y="5015508"/>
            <a:ext cx="1905000" cy="1325761"/>
          </a:xfrm>
          <a:prstGeom prst="rect">
            <a:avLst/>
          </a:prstGeom>
          <a:noFill/>
          <a:ln/>
        </p:spPr>
        <p:txBody>
          <a:bodyPr wrap="square" lIns="25400" tIns="25400" rIns="25400" bIns="25400" rtlCol="0" anchor="t">
            <a:normAutofit/>
          </a:bodyPr>
          <a:lstStyle/>
          <a:p>
            <a:pPr algn="ctr" indent="0" marL="0">
              <a:lnSpc>
                <a:spcPct val="112667"/>
              </a:lnSpc>
              <a:buNone/>
            </a:pPr>
            <a:r>
              <a:rPr lang="en-US" sz="1950" dirty="0">
                <a:solidFill>
                  <a:srgbClr val="64748B"/>
                </a:solidFill>
                <a:latin typeface="Arial" pitchFamily="34" charset="0"/>
                <a:ea typeface="Arial" pitchFamily="34" charset="-122"/>
                <a:cs typeface="Arial" pitchFamily="34" charset="-120"/>
              </a:rPr>
              <a:t>Upstream Quackback </a:t>
            </a:r>
            <a:pPr algn="ctr" indent="0" marL="0">
              <a:lnSpc>
                <a:spcPct val="112667"/>
              </a:lnSpc>
              <a:buNone/>
            </a:pPr>
            <a:r>
              <a:rPr lang="en-US" sz="1800" dirty="0">
                <a:solidFill>
                  <a:srgbClr val="64748B"/>
                </a:solidFill>
                <a:latin typeface="Arial" pitchFamily="34" charset="0"/>
                <a:ea typeface="Arial" pitchFamily="34" charset="-122"/>
                <a:cs typeface="Arial" pitchFamily="34" charset="-120"/>
              </a:rPr>
              <a:t>outside the network</a:t>
            </a:r>
            <a:endParaRPr lang="en-US" sz="1950" dirty="0"/>
          </a:p>
        </p:txBody>
      </p:sp>
      <p:sp>
        <p:nvSpPr>
          <p:cNvPr id="33" name="Text 31"/>
          <p:cNvSpPr/>
          <p:nvPr/>
        </p:nvSpPr>
        <p:spPr>
          <a:xfrm>
            <a:off x="14973300" y="6684169"/>
            <a:ext cx="2362200" cy="678061"/>
          </a:xfrm>
          <a:prstGeom prst="rect">
            <a:avLst/>
          </a:prstGeom>
          <a:noFill/>
          <a:ln/>
        </p:spPr>
        <p:txBody>
          <a:bodyPr wrap="square" lIns="25400" tIns="25400" rIns="25400" bIns="25400" rtlCol="0" anchor="t">
            <a:normAutofit/>
          </a:bodyPr>
          <a:lstStyle/>
          <a:p>
            <a:pPr algn="ctr" indent="0" marL="0">
              <a:lnSpc>
                <a:spcPct val="122182"/>
              </a:lnSpc>
              <a:buNone/>
            </a:pPr>
            <a:r>
              <a:rPr lang="en-US" sz="1800" b="1" dirty="0">
                <a:solidFill>
                  <a:srgbClr val="4F46E5"/>
                </a:solidFill>
                <a:latin typeface="Arial" pitchFamily="34" charset="0"/>
                <a:ea typeface="Arial" pitchFamily="34" charset="-122"/>
                <a:cs typeface="Arial" pitchFamily="34" charset="-120"/>
              </a:rPr>
              <a:t>← fork and compatibility tests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0F4"/>
        </a:solidFill>
      </p:bgPr>
    </p:bg>
    <p:spTree>
      <p:nvGrpSpPr>
        <p:cNvPr id="1" name=""/>
        <p:cNvGrpSpPr/>
        <p:nvPr/>
      </p:nvGrpSpPr>
      <p:grpSpPr>
        <a:xfrm>
          <a:off x="0" y="0"/>
          <a:ext cx="0" cy="0"/>
          <a:chOff x="0" y="0"/>
          <a:chExt cx="0" cy="0"/>
        </a:xfrm>
      </p:grpSpPr>
      <p:sp>
        <p:nvSpPr>
          <p:cNvPr id="2" name="Text 0"/>
          <p:cNvSpPr/>
          <p:nvPr/>
        </p:nvSpPr>
        <p:spPr>
          <a:xfrm>
            <a:off x="990600" y="852488"/>
            <a:ext cx="4887263"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4F46E5"/>
                </a:solidFill>
                <a:latin typeface="Arial" pitchFamily="34" charset="0"/>
                <a:ea typeface="Arial" pitchFamily="34" charset="-122"/>
                <a:cs typeface="Arial" pitchFamily="34" charset="-120"/>
              </a:rPr>
              <a:t>10 · DELIVERY AND GOVERNANCE</a:t>
            </a:r>
            <a:endParaRPr lang="en-US" sz="1800" dirty="0"/>
          </a:p>
        </p:txBody>
      </p:sp>
      <p:sp>
        <p:nvSpPr>
          <p:cNvPr id="3" name="Text 1"/>
          <p:cNvSpPr/>
          <p:nvPr/>
        </p:nvSpPr>
        <p:spPr>
          <a:xfrm>
            <a:off x="11623997" y="838200"/>
            <a:ext cx="62407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Arial" pitchFamily="34" charset="0"/>
                <a:ea typeface="Arial" pitchFamily="34" charset="-122"/>
                <a:cs typeface="Arial" pitchFamily="34" charset="-120"/>
              </a:rPr>
              <a:t>Relative sequence · estimates follow initial validations</a:t>
            </a:r>
            <a:endParaRPr lang="en-US" sz="1800" dirty="0"/>
          </a:p>
        </p:txBody>
      </p:sp>
      <p:sp>
        <p:nvSpPr>
          <p:cNvPr id="4" name="Text 2"/>
          <p:cNvSpPr/>
          <p:nvPr/>
        </p:nvSpPr>
        <p:spPr>
          <a:xfrm>
            <a:off x="990600" y="1362075"/>
            <a:ext cx="17937480" cy="647700"/>
          </a:xfrm>
          <a:prstGeom prst="rect">
            <a:avLst/>
          </a:prstGeom>
          <a:noFill/>
          <a:ln/>
        </p:spPr>
        <p:txBody>
          <a:bodyPr wrap="square" lIns="25400" tIns="25400" rIns="25400" bIns="25400" rtlCol="0" anchor="t">
            <a:normAutofit/>
          </a:bodyPr>
          <a:lstStyle/>
          <a:p>
            <a:pPr algn="l" indent="0" marL="0">
              <a:lnSpc>
                <a:spcPct val="87075"/>
              </a:lnSpc>
              <a:buNone/>
            </a:pPr>
            <a:r>
              <a:rPr lang="en-US" sz="4800" b="1" spc="-168" kern="0" dirty="0">
                <a:solidFill>
                  <a:srgbClr val="0F172A"/>
                </a:solidFill>
                <a:latin typeface="Arial" pitchFamily="34" charset="0"/>
                <a:ea typeface="Arial" pitchFamily="34" charset="-122"/>
                <a:cs typeface="Arial" pitchFamily="34" charset="-120"/>
              </a:rPr>
              <a:t>Five phases, gated at every release</a:t>
            </a:r>
            <a:endParaRPr lang="en-US" sz="4800" dirty="0"/>
          </a:p>
        </p:txBody>
      </p:sp>
      <p:sp>
        <p:nvSpPr>
          <p:cNvPr id="5" name="Shape 3"/>
          <p:cNvSpPr/>
          <p:nvPr/>
        </p:nvSpPr>
        <p:spPr>
          <a:xfrm rot="2700000">
            <a:off x="5810250" y="2369344"/>
            <a:ext cx="152400" cy="152400"/>
          </a:xfrm>
          <a:prstGeom prst="rect">
            <a:avLst/>
          </a:prstGeom>
          <a:solidFill>
            <a:srgbClr val="4F46E5"/>
          </a:solidFill>
          <a:ln/>
        </p:spPr>
      </p:sp>
      <p:sp>
        <p:nvSpPr>
          <p:cNvPr id="6" name="Text 4"/>
          <p:cNvSpPr/>
          <p:nvPr/>
        </p:nvSpPr>
        <p:spPr>
          <a:xfrm>
            <a:off x="6057900" y="2319338"/>
            <a:ext cx="2465115" cy="290513"/>
          </a:xfrm>
          <a:prstGeom prst="rect">
            <a:avLst/>
          </a:prstGeom>
          <a:noFill/>
          <a:ln/>
        </p:spPr>
        <p:txBody>
          <a:bodyPr wrap="square" lIns="0" tIns="0" rIns="0" bIns="0" rtlCol="0" anchor="t">
            <a:normAutofit/>
          </a:bodyPr>
          <a:lstStyle/>
          <a:p>
            <a:pPr algn="l" indent="0" marL="0">
              <a:buNone/>
            </a:pPr>
            <a:r>
              <a:rPr lang="en-US" sz="1800" b="1" dirty="0">
                <a:solidFill>
                  <a:srgbClr val="64748B"/>
                </a:solidFill>
                <a:latin typeface="Arial" pitchFamily="34" charset="0"/>
                <a:ea typeface="Arial" pitchFamily="34" charset="-122"/>
                <a:cs typeface="Arial" pitchFamily="34" charset="-120"/>
              </a:rPr>
              <a:t>Pilot with selected apps</a:t>
            </a:r>
            <a:endParaRPr lang="en-US" sz="1800" dirty="0"/>
          </a:p>
        </p:txBody>
      </p:sp>
      <p:sp>
        <p:nvSpPr>
          <p:cNvPr id="7" name="Shape 5"/>
          <p:cNvSpPr/>
          <p:nvPr/>
        </p:nvSpPr>
        <p:spPr>
          <a:xfrm rot="2700000">
            <a:off x="12702480" y="2369344"/>
            <a:ext cx="152400" cy="152400"/>
          </a:xfrm>
          <a:prstGeom prst="rect">
            <a:avLst/>
          </a:prstGeom>
          <a:solidFill>
            <a:srgbClr val="4F46E5"/>
          </a:solidFill>
          <a:ln/>
        </p:spPr>
      </p:sp>
      <p:sp>
        <p:nvSpPr>
          <p:cNvPr id="8" name="Text 6"/>
          <p:cNvSpPr/>
          <p:nvPr/>
        </p:nvSpPr>
        <p:spPr>
          <a:xfrm>
            <a:off x="12950130" y="2319338"/>
            <a:ext cx="2853319" cy="290513"/>
          </a:xfrm>
          <a:prstGeom prst="rect">
            <a:avLst/>
          </a:prstGeom>
          <a:noFill/>
          <a:ln/>
        </p:spPr>
        <p:txBody>
          <a:bodyPr wrap="square" lIns="0" tIns="0" rIns="0" bIns="0" rtlCol="0" anchor="t">
            <a:normAutofit/>
          </a:bodyPr>
          <a:lstStyle/>
          <a:p>
            <a:pPr algn="l" indent="0" marL="0">
              <a:buNone/>
            </a:pPr>
            <a:r>
              <a:rPr lang="en-US" sz="1800" b="1" dirty="0">
                <a:solidFill>
                  <a:srgbClr val="64748B"/>
                </a:solidFill>
                <a:latin typeface="Arial" pitchFamily="34" charset="0"/>
                <a:ea typeface="Arial" pitchFamily="34" charset="-122"/>
                <a:cs typeface="Arial" pitchFamily="34" charset="-120"/>
              </a:rPr>
              <a:t>Expand across the portfolio</a:t>
            </a:r>
            <a:endParaRPr lang="en-US" sz="1800" dirty="0"/>
          </a:p>
        </p:txBody>
      </p:sp>
      <p:sp>
        <p:nvSpPr>
          <p:cNvPr id="9" name="Text 7"/>
          <p:cNvSpPr/>
          <p:nvPr/>
        </p:nvSpPr>
        <p:spPr>
          <a:xfrm>
            <a:off x="990600" y="2942258"/>
            <a:ext cx="4924425" cy="358080"/>
          </a:xfrm>
          <a:prstGeom prst="rect">
            <a:avLst/>
          </a:prstGeom>
          <a:noFill/>
          <a:ln/>
        </p:spPr>
        <p:txBody>
          <a:bodyPr wrap="square" lIns="25400" tIns="25400" rIns="25400" bIns="25400" rtlCol="0" anchor="t">
            <a:normAutofit/>
          </a:bodyPr>
          <a:lstStyle/>
          <a:p>
            <a:pPr algn="l" indent="0" marL="0">
              <a:lnSpc>
                <a:spcPct val="103385"/>
              </a:lnSpc>
              <a:buNone/>
            </a:pPr>
            <a:r>
              <a:rPr lang="en-US" sz="2100" b="1" dirty="0">
                <a:solidFill>
                  <a:srgbClr val="0F172A"/>
                </a:solidFill>
                <a:latin typeface="Arial" pitchFamily="34" charset="0"/>
                <a:ea typeface="Arial" pitchFamily="34" charset="-122"/>
                <a:cs typeface="Arial" pitchFamily="34" charset="-120"/>
              </a:rPr>
              <a:t>Phase 1 · Establish the foundation</a:t>
            </a:r>
            <a:endParaRPr lang="en-US" sz="2100" dirty="0"/>
          </a:p>
        </p:txBody>
      </p:sp>
      <p:sp>
        <p:nvSpPr>
          <p:cNvPr id="10" name="Shape 8"/>
          <p:cNvSpPr/>
          <p:nvPr/>
        </p:nvSpPr>
        <p:spPr>
          <a:xfrm>
            <a:off x="5810250" y="2690813"/>
            <a:ext cx="4594845" cy="822871"/>
          </a:xfrm>
          <a:prstGeom prst="roundRect">
            <a:avLst>
              <a:gd name="adj" fmla="val 11575"/>
            </a:avLst>
          </a:prstGeom>
          <a:solidFill>
            <a:srgbClr val="4F46E5"/>
          </a:solidFill>
          <a:ln/>
        </p:spPr>
      </p:sp>
      <p:sp>
        <p:nvSpPr>
          <p:cNvPr id="11" name="Text 9"/>
          <p:cNvSpPr/>
          <p:nvPr/>
        </p:nvSpPr>
        <p:spPr>
          <a:xfrm>
            <a:off x="6000750" y="2805113"/>
            <a:ext cx="4351690"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FFFFFF"/>
                </a:solidFill>
                <a:latin typeface="Arial" pitchFamily="34" charset="0"/>
                <a:ea typeface="Arial" pitchFamily="34" charset="-122"/>
                <a:cs typeface="Arial" pitchFamily="34" charset="-120"/>
              </a:rPr>
              <a:t>Infrastructure validation, SSO, permissions, audit, migration controls</a:t>
            </a:r>
            <a:endParaRPr lang="en-US" sz="1800" dirty="0"/>
          </a:p>
        </p:txBody>
      </p:sp>
      <p:sp>
        <p:nvSpPr>
          <p:cNvPr id="12" name="Text 10"/>
          <p:cNvSpPr/>
          <p:nvPr/>
        </p:nvSpPr>
        <p:spPr>
          <a:xfrm>
            <a:off x="990600" y="3879428"/>
            <a:ext cx="4924425" cy="358080"/>
          </a:xfrm>
          <a:prstGeom prst="rect">
            <a:avLst/>
          </a:prstGeom>
          <a:noFill/>
          <a:ln/>
        </p:spPr>
        <p:txBody>
          <a:bodyPr wrap="square" lIns="25400" tIns="25400" rIns="25400" bIns="25400" rtlCol="0" anchor="t">
            <a:normAutofit/>
          </a:bodyPr>
          <a:lstStyle/>
          <a:p>
            <a:pPr algn="l" indent="0" marL="0">
              <a:lnSpc>
                <a:spcPct val="103385"/>
              </a:lnSpc>
              <a:buNone/>
            </a:pPr>
            <a:r>
              <a:rPr lang="en-US" sz="2100" b="1" dirty="0">
                <a:solidFill>
                  <a:srgbClr val="0F172A"/>
                </a:solidFill>
                <a:latin typeface="Arial" pitchFamily="34" charset="0"/>
                <a:ea typeface="Arial" pitchFamily="34" charset="-122"/>
                <a:cs typeface="Arial" pitchFamily="34" charset="-120"/>
              </a:rPr>
              <a:t>Phase 2 · Deliver initial value</a:t>
            </a:r>
            <a:endParaRPr lang="en-US" sz="2100" dirty="0"/>
          </a:p>
        </p:txBody>
      </p:sp>
      <p:sp>
        <p:nvSpPr>
          <p:cNvPr id="13" name="Shape 11"/>
          <p:cNvSpPr/>
          <p:nvPr/>
        </p:nvSpPr>
        <p:spPr>
          <a:xfrm>
            <a:off x="8107635" y="3627983"/>
            <a:ext cx="3446190" cy="822871"/>
          </a:xfrm>
          <a:prstGeom prst="roundRect">
            <a:avLst>
              <a:gd name="adj" fmla="val 11575"/>
            </a:avLst>
          </a:prstGeom>
          <a:solidFill>
            <a:srgbClr val="4F46E5"/>
          </a:solidFill>
          <a:ln/>
        </p:spPr>
      </p:sp>
      <p:sp>
        <p:nvSpPr>
          <p:cNvPr id="14" name="Text 12"/>
          <p:cNvSpPr/>
          <p:nvPr/>
        </p:nvSpPr>
        <p:spPr>
          <a:xfrm>
            <a:off x="8298135" y="3742283"/>
            <a:ext cx="3168575"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FFFFFF"/>
                </a:solidFill>
                <a:latin typeface="Arial" pitchFamily="34" charset="0"/>
                <a:ea typeface="Arial" pitchFamily="34" charset="-122"/>
                <a:cs typeface="Arial" pitchFamily="34" charset="-120"/>
              </a:rPr>
              <a:t>Prioritization, standard announcements</a:t>
            </a:r>
            <a:endParaRPr lang="en-US" sz="1800" dirty="0"/>
          </a:p>
        </p:txBody>
      </p:sp>
      <p:sp>
        <p:nvSpPr>
          <p:cNvPr id="15" name="Text 13"/>
          <p:cNvSpPr/>
          <p:nvPr/>
        </p:nvSpPr>
        <p:spPr>
          <a:xfrm>
            <a:off x="990600" y="4816599"/>
            <a:ext cx="4924425" cy="358080"/>
          </a:xfrm>
          <a:prstGeom prst="rect">
            <a:avLst/>
          </a:prstGeom>
          <a:noFill/>
          <a:ln/>
        </p:spPr>
        <p:txBody>
          <a:bodyPr wrap="square" lIns="25400" tIns="25400" rIns="25400" bIns="25400" rtlCol="0" anchor="t">
            <a:normAutofit/>
          </a:bodyPr>
          <a:lstStyle/>
          <a:p>
            <a:pPr algn="l" indent="0" marL="0">
              <a:lnSpc>
                <a:spcPct val="103385"/>
              </a:lnSpc>
              <a:buNone/>
            </a:pPr>
            <a:r>
              <a:rPr lang="en-US" sz="2100" b="1" dirty="0">
                <a:solidFill>
                  <a:srgbClr val="0F172A"/>
                </a:solidFill>
                <a:latin typeface="Arial" pitchFamily="34" charset="0"/>
                <a:ea typeface="Arial" pitchFamily="34" charset="-122"/>
                <a:cs typeface="Arial" pitchFamily="34" charset="-120"/>
              </a:rPr>
              <a:t>Phase 3 · Standardize support</a:t>
            </a:r>
            <a:endParaRPr lang="en-US" sz="2100" dirty="0"/>
          </a:p>
        </p:txBody>
      </p:sp>
      <p:sp>
        <p:nvSpPr>
          <p:cNvPr id="16" name="Shape 14"/>
          <p:cNvSpPr/>
          <p:nvPr/>
        </p:nvSpPr>
        <p:spPr>
          <a:xfrm>
            <a:off x="9256365" y="4565154"/>
            <a:ext cx="4594845" cy="822871"/>
          </a:xfrm>
          <a:prstGeom prst="roundRect">
            <a:avLst>
              <a:gd name="adj" fmla="val 11575"/>
            </a:avLst>
          </a:prstGeom>
          <a:solidFill>
            <a:srgbClr val="4F46E5"/>
          </a:solidFill>
          <a:ln/>
        </p:spPr>
      </p:sp>
      <p:sp>
        <p:nvSpPr>
          <p:cNvPr id="17" name="Text 15"/>
          <p:cNvSpPr/>
          <p:nvPr/>
        </p:nvSpPr>
        <p:spPr>
          <a:xfrm>
            <a:off x="9446865" y="4679454"/>
            <a:ext cx="4351690"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FFFFFF"/>
                </a:solidFill>
                <a:latin typeface="Arial" pitchFamily="34" charset="0"/>
                <a:ea typeface="Arial" pitchFamily="34" charset="-122"/>
                <a:cs typeface="Arial" pitchFamily="34" charset="-120"/>
              </a:rPr>
              <a:t>Employee hub, tiered routing, escalation, SLA preservation</a:t>
            </a:r>
            <a:endParaRPr lang="en-US" sz="1800" dirty="0"/>
          </a:p>
        </p:txBody>
      </p:sp>
      <p:sp>
        <p:nvSpPr>
          <p:cNvPr id="18" name="Text 16"/>
          <p:cNvSpPr/>
          <p:nvPr/>
        </p:nvSpPr>
        <p:spPr>
          <a:xfrm>
            <a:off x="990600" y="5593779"/>
            <a:ext cx="4611052" cy="678061"/>
          </a:xfrm>
          <a:prstGeom prst="rect">
            <a:avLst/>
          </a:prstGeom>
          <a:noFill/>
          <a:ln/>
        </p:spPr>
        <p:txBody>
          <a:bodyPr wrap="square" lIns="25400" tIns="25400" rIns="25400" bIns="25400" rtlCol="0" anchor="t">
            <a:normAutofit/>
          </a:bodyPr>
          <a:lstStyle/>
          <a:p>
            <a:pPr algn="l" indent="0" marL="0">
              <a:lnSpc>
                <a:spcPct val="103385"/>
              </a:lnSpc>
              <a:buNone/>
            </a:pPr>
            <a:r>
              <a:rPr lang="en-US" sz="2100" b="1" dirty="0">
                <a:solidFill>
                  <a:srgbClr val="0F172A"/>
                </a:solidFill>
                <a:latin typeface="Arial" pitchFamily="34" charset="0"/>
                <a:ea typeface="Arial" pitchFamily="34" charset="-122"/>
                <a:cs typeface="Arial" pitchFamily="34" charset="-120"/>
              </a:rPr>
              <a:t>Phase 4 · Resolution in connected apps</a:t>
            </a:r>
            <a:endParaRPr lang="en-US" sz="2100" dirty="0"/>
          </a:p>
        </p:txBody>
      </p:sp>
      <p:sp>
        <p:nvSpPr>
          <p:cNvPr id="19" name="Shape 17"/>
          <p:cNvSpPr/>
          <p:nvPr/>
        </p:nvSpPr>
        <p:spPr>
          <a:xfrm>
            <a:off x="11553825" y="5502325"/>
            <a:ext cx="3446115" cy="822871"/>
          </a:xfrm>
          <a:prstGeom prst="roundRect">
            <a:avLst>
              <a:gd name="adj" fmla="val 11575"/>
            </a:avLst>
          </a:prstGeom>
          <a:solidFill>
            <a:srgbClr val="4F46E5"/>
          </a:solidFill>
          <a:ln/>
        </p:spPr>
      </p:sp>
      <p:sp>
        <p:nvSpPr>
          <p:cNvPr id="20" name="Text 18"/>
          <p:cNvSpPr/>
          <p:nvPr/>
        </p:nvSpPr>
        <p:spPr>
          <a:xfrm>
            <a:off x="11744325" y="5616625"/>
            <a:ext cx="3168499"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FFFFFF"/>
                </a:solidFill>
                <a:latin typeface="Arial" pitchFamily="34" charset="0"/>
                <a:ea typeface="Arial" pitchFamily="34" charset="-122"/>
                <a:cs typeface="Arial" pitchFamily="34" charset="-120"/>
              </a:rPr>
              <a:t>Action catalogue, approvals, recovery</a:t>
            </a:r>
            <a:endParaRPr lang="en-US" sz="1800" dirty="0"/>
          </a:p>
        </p:txBody>
      </p:sp>
      <p:sp>
        <p:nvSpPr>
          <p:cNvPr id="21" name="Text 19"/>
          <p:cNvSpPr/>
          <p:nvPr/>
        </p:nvSpPr>
        <p:spPr>
          <a:xfrm>
            <a:off x="990600" y="6690940"/>
            <a:ext cx="4924425" cy="358080"/>
          </a:xfrm>
          <a:prstGeom prst="rect">
            <a:avLst/>
          </a:prstGeom>
          <a:noFill/>
          <a:ln/>
        </p:spPr>
        <p:txBody>
          <a:bodyPr wrap="square" lIns="25400" tIns="25400" rIns="25400" bIns="25400" rtlCol="0" anchor="t">
            <a:normAutofit/>
          </a:bodyPr>
          <a:lstStyle/>
          <a:p>
            <a:pPr algn="l" indent="0" marL="0">
              <a:lnSpc>
                <a:spcPct val="103385"/>
              </a:lnSpc>
              <a:buNone/>
            </a:pPr>
            <a:r>
              <a:rPr lang="en-US" sz="2100" b="1" dirty="0">
                <a:solidFill>
                  <a:srgbClr val="0F172A"/>
                </a:solidFill>
                <a:latin typeface="Arial" pitchFamily="34" charset="0"/>
                <a:ea typeface="Arial" pitchFamily="34" charset="-122"/>
                <a:cs typeface="Arial" pitchFamily="34" charset="-120"/>
              </a:rPr>
              <a:t>Phase 5 · Expand fleet operations</a:t>
            </a:r>
            <a:endParaRPr lang="en-US" sz="2100" dirty="0"/>
          </a:p>
        </p:txBody>
      </p:sp>
      <p:sp>
        <p:nvSpPr>
          <p:cNvPr id="22" name="Shape 20"/>
          <p:cNvSpPr/>
          <p:nvPr/>
        </p:nvSpPr>
        <p:spPr>
          <a:xfrm>
            <a:off x="12702480" y="6439495"/>
            <a:ext cx="4594845" cy="822871"/>
          </a:xfrm>
          <a:prstGeom prst="roundRect">
            <a:avLst>
              <a:gd name="adj" fmla="val 11575"/>
            </a:avLst>
          </a:prstGeom>
          <a:solidFill>
            <a:srgbClr val="4F46E5"/>
          </a:solidFill>
          <a:ln/>
        </p:spPr>
      </p:sp>
      <p:sp>
        <p:nvSpPr>
          <p:cNvPr id="23" name="Text 21"/>
          <p:cNvSpPr/>
          <p:nvPr/>
        </p:nvSpPr>
        <p:spPr>
          <a:xfrm>
            <a:off x="12892980" y="6553795"/>
            <a:ext cx="4351690"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FFFFFF"/>
                </a:solidFill>
                <a:latin typeface="Arial" pitchFamily="34" charset="0"/>
                <a:ea typeface="Arial" pitchFamily="34" charset="-122"/>
                <a:cs typeface="Arial" pitchFamily="34" charset="-120"/>
              </a:rPr>
              <a:t>Complete cross-app tower, onboard additional apps</a:t>
            </a:r>
            <a:endParaRPr lang="en-US" sz="1800" dirty="0"/>
          </a:p>
        </p:txBody>
      </p:sp>
      <p:sp>
        <p:nvSpPr>
          <p:cNvPr id="24" name="Text 22"/>
          <p:cNvSpPr/>
          <p:nvPr/>
        </p:nvSpPr>
        <p:spPr>
          <a:xfrm>
            <a:off x="990600" y="7462391"/>
            <a:ext cx="4924425" cy="352425"/>
          </a:xfrm>
          <a:prstGeom prst="rect">
            <a:avLst/>
          </a:prstGeom>
          <a:noFill/>
          <a:ln/>
        </p:spPr>
        <p:txBody>
          <a:bodyPr wrap="square" lIns="25400" tIns="25400" rIns="25400" bIns="25400" rtlCol="0" anchor="t">
            <a:normAutofit/>
          </a:bodyPr>
          <a:lstStyle/>
          <a:p>
            <a:pPr algn="l" indent="0" marL="0">
              <a:buNone/>
            </a:pPr>
            <a:r>
              <a:rPr lang="en-US" sz="1950" dirty="0">
                <a:solidFill>
                  <a:srgbClr val="64748B"/>
                </a:solidFill>
                <a:latin typeface="Arial" pitchFamily="34" charset="0"/>
                <a:ea typeface="Arial" pitchFamily="34" charset="-122"/>
                <a:cs typeface="Arial" pitchFamily="34" charset="-120"/>
              </a:rPr>
              <a:t>Tower infrastructure</a:t>
            </a:r>
            <a:endParaRPr lang="en-US" sz="1950" dirty="0"/>
          </a:p>
        </p:txBody>
      </p:sp>
      <p:sp>
        <p:nvSpPr>
          <p:cNvPr id="25" name="Shape 23"/>
          <p:cNvSpPr/>
          <p:nvPr/>
        </p:nvSpPr>
        <p:spPr>
          <a:xfrm>
            <a:off x="5810250" y="7376666"/>
            <a:ext cx="9189690" cy="485775"/>
          </a:xfrm>
          <a:prstGeom prst="roundRect">
            <a:avLst>
              <a:gd name="adj" fmla="val 19608"/>
            </a:avLst>
          </a:prstGeom>
          <a:solidFill>
            <a:srgbClr val="E0E7FF"/>
          </a:solidFill>
          <a:ln/>
        </p:spPr>
      </p:sp>
      <p:sp>
        <p:nvSpPr>
          <p:cNvPr id="26" name="Text 24"/>
          <p:cNvSpPr/>
          <p:nvPr/>
        </p:nvSpPr>
        <p:spPr>
          <a:xfrm>
            <a:off x="6000750" y="7471916"/>
            <a:ext cx="908438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730A3"/>
                </a:solidFill>
                <a:latin typeface="Arial" pitchFamily="34" charset="0"/>
                <a:ea typeface="Arial" pitchFamily="34" charset="-122"/>
                <a:cs typeface="Arial" pitchFamily="34" charset="-120"/>
              </a:rPr>
              <a:t>Starts with the foundation, matures through Phase 5</a:t>
            </a:r>
            <a:endParaRPr lang="en-US" sz="1800" dirty="0"/>
          </a:p>
        </p:txBody>
      </p:sp>
      <p:sp>
        <p:nvSpPr>
          <p:cNvPr id="27" name="Text 25"/>
          <p:cNvSpPr/>
          <p:nvPr/>
        </p:nvSpPr>
        <p:spPr>
          <a:xfrm>
            <a:off x="990600" y="8062466"/>
            <a:ext cx="4924425" cy="352425"/>
          </a:xfrm>
          <a:prstGeom prst="rect">
            <a:avLst/>
          </a:prstGeom>
          <a:noFill/>
          <a:ln/>
        </p:spPr>
        <p:txBody>
          <a:bodyPr wrap="square" lIns="25400" tIns="25400" rIns="25400" bIns="25400" rtlCol="0" anchor="t">
            <a:normAutofit/>
          </a:bodyPr>
          <a:lstStyle/>
          <a:p>
            <a:pPr algn="l" indent="0" marL="0">
              <a:buNone/>
            </a:pPr>
            <a:r>
              <a:rPr lang="en-US" sz="1950" dirty="0">
                <a:solidFill>
                  <a:srgbClr val="64748B"/>
                </a:solidFill>
                <a:latin typeface="Arial" pitchFamily="34" charset="0"/>
                <a:ea typeface="Arial" pitchFamily="34" charset="-122"/>
                <a:cs typeface="Arial" pitchFamily="34" charset="-120"/>
              </a:rPr>
              <a:t>Integration discovery</a:t>
            </a:r>
            <a:endParaRPr lang="en-US" sz="1950" dirty="0"/>
          </a:p>
        </p:txBody>
      </p:sp>
      <p:sp>
        <p:nvSpPr>
          <p:cNvPr id="28" name="Shape 26"/>
          <p:cNvSpPr/>
          <p:nvPr/>
        </p:nvSpPr>
        <p:spPr>
          <a:xfrm>
            <a:off x="5810250" y="7976741"/>
            <a:ext cx="5743575" cy="485775"/>
          </a:xfrm>
          <a:prstGeom prst="roundRect">
            <a:avLst>
              <a:gd name="adj" fmla="val 19608"/>
            </a:avLst>
          </a:prstGeom>
          <a:solidFill>
            <a:srgbClr val="E0E7FF"/>
          </a:solidFill>
          <a:ln/>
        </p:spPr>
      </p:sp>
      <p:sp>
        <p:nvSpPr>
          <p:cNvPr id="29" name="Text 27"/>
          <p:cNvSpPr/>
          <p:nvPr/>
        </p:nvSpPr>
        <p:spPr>
          <a:xfrm>
            <a:off x="6000750" y="8071991"/>
            <a:ext cx="553488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730A3"/>
                </a:solidFill>
                <a:latin typeface="Arial" pitchFamily="34" charset="0"/>
                <a:ea typeface="Arial" pitchFamily="34" charset="-122"/>
                <a:cs typeface="Arial" pitchFamily="34" charset="-120"/>
              </a:rPr>
              <a:t>Contracts defined ahead of Phase 4</a:t>
            </a:r>
            <a:endParaRPr lang="en-US" sz="1800" dirty="0"/>
          </a:p>
        </p:txBody>
      </p:sp>
      <p:sp>
        <p:nvSpPr>
          <p:cNvPr id="30" name="Shape 28"/>
          <p:cNvSpPr/>
          <p:nvPr/>
        </p:nvSpPr>
        <p:spPr>
          <a:xfrm>
            <a:off x="990600" y="8401050"/>
            <a:ext cx="16306800" cy="9525"/>
          </a:xfrm>
          <a:prstGeom prst="rect">
            <a:avLst/>
          </a:prstGeom>
          <a:solidFill>
            <a:srgbClr val="CBD5E1"/>
          </a:solidFill>
          <a:ln/>
        </p:spPr>
      </p:sp>
      <p:sp>
        <p:nvSpPr>
          <p:cNvPr id="31" name="Text 29"/>
          <p:cNvSpPr/>
          <p:nvPr/>
        </p:nvSpPr>
        <p:spPr>
          <a:xfrm>
            <a:off x="990600" y="8979694"/>
            <a:ext cx="4924425"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4748B"/>
                </a:solidFill>
                <a:latin typeface="Arial" pitchFamily="34" charset="0"/>
                <a:ea typeface="Arial" pitchFamily="34" charset="-122"/>
                <a:cs typeface="Arial" pitchFamily="34" charset="-120"/>
              </a:rPr>
              <a:t>EVERY RELEASE GATE</a:t>
            </a:r>
            <a:endParaRPr lang="en-US" sz="1800" dirty="0"/>
          </a:p>
        </p:txBody>
      </p:sp>
      <p:sp>
        <p:nvSpPr>
          <p:cNvPr id="32" name="Shape 30"/>
          <p:cNvSpPr/>
          <p:nvPr/>
        </p:nvSpPr>
        <p:spPr>
          <a:xfrm>
            <a:off x="5810250" y="8620125"/>
            <a:ext cx="2105695" cy="514350"/>
          </a:xfrm>
          <a:prstGeom prst="roundRect">
            <a:avLst>
              <a:gd name="adj" fmla="val 50000"/>
            </a:avLst>
          </a:prstGeom>
          <a:ln w="19050">
            <a:solidFill>
              <a:srgbClr val="4F46E5"/>
            </a:solidFill>
            <a:prstDash val="solid"/>
          </a:ln>
        </p:spPr>
      </p:sp>
      <p:sp>
        <p:nvSpPr>
          <p:cNvPr id="33" name="Text 31"/>
          <p:cNvSpPr/>
          <p:nvPr/>
        </p:nvSpPr>
        <p:spPr>
          <a:xfrm>
            <a:off x="6057900" y="8734425"/>
            <a:ext cx="168659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46E5"/>
                </a:solidFill>
                <a:latin typeface="Arial" pitchFamily="34" charset="0"/>
                <a:ea typeface="Arial" pitchFamily="34" charset="-122"/>
                <a:cs typeface="Arial" pitchFamily="34" charset="-120"/>
              </a:rPr>
              <a:t>Security check</a:t>
            </a:r>
            <a:endParaRPr lang="en-US" sz="1950" dirty="0"/>
          </a:p>
        </p:txBody>
      </p:sp>
      <p:sp>
        <p:nvSpPr>
          <p:cNvPr id="34" name="Shape 32"/>
          <p:cNvSpPr/>
          <p:nvPr/>
        </p:nvSpPr>
        <p:spPr>
          <a:xfrm>
            <a:off x="8068345" y="8620125"/>
            <a:ext cx="2257053" cy="514350"/>
          </a:xfrm>
          <a:prstGeom prst="roundRect">
            <a:avLst>
              <a:gd name="adj" fmla="val 50000"/>
            </a:avLst>
          </a:prstGeom>
          <a:ln w="19050">
            <a:solidFill>
              <a:srgbClr val="4F46E5"/>
            </a:solidFill>
            <a:prstDash val="solid"/>
          </a:ln>
        </p:spPr>
      </p:sp>
      <p:sp>
        <p:nvSpPr>
          <p:cNvPr id="35" name="Text 33"/>
          <p:cNvSpPr/>
          <p:nvPr/>
        </p:nvSpPr>
        <p:spPr>
          <a:xfrm>
            <a:off x="8315995" y="8734425"/>
            <a:ext cx="1837953"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46E5"/>
                </a:solidFill>
                <a:latin typeface="Arial" pitchFamily="34" charset="0"/>
                <a:ea typeface="Arial" pitchFamily="34" charset="-122"/>
                <a:cs typeface="Arial" pitchFamily="34" charset="-120"/>
              </a:rPr>
              <a:t>Recovery check</a:t>
            </a:r>
            <a:endParaRPr lang="en-US" sz="1950" dirty="0"/>
          </a:p>
        </p:txBody>
      </p:sp>
      <p:sp>
        <p:nvSpPr>
          <p:cNvPr id="36" name="Shape 34"/>
          <p:cNvSpPr/>
          <p:nvPr/>
        </p:nvSpPr>
        <p:spPr>
          <a:xfrm>
            <a:off x="10477798" y="8620125"/>
            <a:ext cx="2161059" cy="514350"/>
          </a:xfrm>
          <a:prstGeom prst="roundRect">
            <a:avLst>
              <a:gd name="adj" fmla="val 50000"/>
            </a:avLst>
          </a:prstGeom>
          <a:ln w="19050">
            <a:solidFill>
              <a:srgbClr val="4F46E5"/>
            </a:solidFill>
            <a:prstDash val="solid"/>
          </a:ln>
        </p:spPr>
      </p:sp>
      <p:sp>
        <p:nvSpPr>
          <p:cNvPr id="37" name="Text 35"/>
          <p:cNvSpPr/>
          <p:nvPr/>
        </p:nvSpPr>
        <p:spPr>
          <a:xfrm>
            <a:off x="10725448" y="8734425"/>
            <a:ext cx="1741959"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46E5"/>
                </a:solidFill>
                <a:latin typeface="Arial" pitchFamily="34" charset="0"/>
                <a:ea typeface="Arial" pitchFamily="34" charset="-122"/>
                <a:cs typeface="Arial" pitchFamily="34" charset="-120"/>
              </a:rPr>
              <a:t>Upgrade check</a:t>
            </a:r>
            <a:endParaRPr lang="en-US" sz="1950" dirty="0"/>
          </a:p>
        </p:txBody>
      </p:sp>
      <p:sp>
        <p:nvSpPr>
          <p:cNvPr id="38" name="Text 36"/>
          <p:cNvSpPr/>
          <p:nvPr/>
        </p:nvSpPr>
        <p:spPr>
          <a:xfrm>
            <a:off x="10943853" y="9286875"/>
            <a:ext cx="6988902" cy="352425"/>
          </a:xfrm>
          <a:prstGeom prst="rect">
            <a:avLst/>
          </a:prstGeom>
          <a:noFill/>
          <a:ln/>
        </p:spPr>
        <p:txBody>
          <a:bodyPr wrap="square" lIns="25400" tIns="25400" rIns="25400" bIns="25400" rtlCol="0" anchor="t">
            <a:normAutofit/>
          </a:bodyPr>
          <a:lstStyle/>
          <a:p>
            <a:pPr algn="l" indent="0" marL="0">
              <a:buNone/>
            </a:pPr>
            <a:r>
              <a:rPr lang="en-US" sz="1950" dirty="0">
                <a:solidFill>
                  <a:srgbClr val="334155"/>
                </a:solidFill>
                <a:latin typeface="Arial" pitchFamily="34" charset="0"/>
                <a:ea typeface="Arial" pitchFamily="34" charset="-122"/>
                <a:cs typeface="Arial" pitchFamily="34" charset="-120"/>
              </a:rPr>
              <a:t>Owners: platform · support · product · connected apps</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90600" y="838200"/>
            <a:ext cx="1793748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5B4FC"/>
                </a:solidFill>
                <a:latin typeface="Arial" pitchFamily="34" charset="0"/>
                <a:ea typeface="Arial" pitchFamily="34" charset="-122"/>
                <a:cs typeface="Arial" pitchFamily="34" charset="-120"/>
              </a:rPr>
              <a:t>11 · THE ASK</a:t>
            </a:r>
            <a:endParaRPr lang="en-US" sz="1800" dirty="0"/>
          </a:p>
        </p:txBody>
      </p:sp>
      <p:sp>
        <p:nvSpPr>
          <p:cNvPr id="3" name="Text 1"/>
          <p:cNvSpPr/>
          <p:nvPr/>
        </p:nvSpPr>
        <p:spPr>
          <a:xfrm>
            <a:off x="990600" y="1366838"/>
            <a:ext cx="17937480" cy="723900"/>
          </a:xfrm>
          <a:prstGeom prst="rect">
            <a:avLst/>
          </a:prstGeom>
          <a:noFill/>
          <a:ln/>
        </p:spPr>
        <p:txBody>
          <a:bodyPr wrap="square" lIns="25400" tIns="25400" rIns="25400" bIns="25400" rtlCol="0" anchor="t">
            <a:normAutofit/>
          </a:bodyPr>
          <a:lstStyle/>
          <a:p>
            <a:pPr algn="l" indent="0" marL="0">
              <a:lnSpc>
                <a:spcPct val="86747"/>
              </a:lnSpc>
              <a:buNone/>
            </a:pPr>
            <a:r>
              <a:rPr lang="en-US" sz="5400" b="1" spc="-189" kern="0" dirty="0">
                <a:solidFill>
                  <a:srgbClr val="FFFFFF"/>
                </a:solidFill>
                <a:latin typeface="Arial" pitchFamily="34" charset="0"/>
                <a:ea typeface="Arial" pitchFamily="34" charset="-122"/>
                <a:cs typeface="Arial" pitchFamily="34" charset="-120"/>
              </a:rPr>
              <a:t>Decisions requested today</a:t>
            </a:r>
            <a:endParaRPr lang="en-US" sz="5400" dirty="0"/>
          </a:p>
        </p:txBody>
      </p:sp>
      <p:sp>
        <p:nvSpPr>
          <p:cNvPr id="4" name="Shape 2"/>
          <p:cNvSpPr/>
          <p:nvPr/>
        </p:nvSpPr>
        <p:spPr>
          <a:xfrm>
            <a:off x="990600" y="2662238"/>
            <a:ext cx="5283175" cy="6261795"/>
          </a:xfrm>
          <a:prstGeom prst="roundRect">
            <a:avLst>
              <a:gd name="adj" fmla="val 3606"/>
            </a:avLst>
          </a:prstGeom>
          <a:solidFill>
            <a:srgbClr val="1E293B"/>
          </a:solidFill>
          <a:ln/>
        </p:spPr>
      </p:sp>
      <p:sp>
        <p:nvSpPr>
          <p:cNvPr id="5" name="Text 3"/>
          <p:cNvSpPr/>
          <p:nvPr/>
        </p:nvSpPr>
        <p:spPr>
          <a:xfrm>
            <a:off x="1371600" y="3043238"/>
            <a:ext cx="4973293" cy="561975"/>
          </a:xfrm>
          <a:prstGeom prst="rect">
            <a:avLst/>
          </a:prstGeom>
          <a:noFill/>
          <a:ln/>
        </p:spPr>
        <p:txBody>
          <a:bodyPr wrap="square" lIns="25400" tIns="25400" rIns="25400" bIns="25400" rtlCol="0" anchor="t">
            <a:normAutofit/>
          </a:bodyPr>
          <a:lstStyle/>
          <a:p>
            <a:pPr algn="l" indent="0" marL="0">
              <a:buNone/>
            </a:pPr>
            <a:r>
              <a:rPr lang="en-US" sz="3600" b="1" spc="-72" kern="0" dirty="0">
                <a:solidFill>
                  <a:srgbClr val="A5B4FC"/>
                </a:solidFill>
                <a:latin typeface="Arial" pitchFamily="34" charset="0"/>
                <a:ea typeface="Arial" pitchFamily="34" charset="-122"/>
                <a:cs typeface="Arial" pitchFamily="34" charset="-120"/>
              </a:rPr>
              <a:t>1</a:t>
            </a:r>
            <a:endParaRPr lang="en-US" sz="3600" dirty="0"/>
          </a:p>
        </p:txBody>
      </p:sp>
      <p:sp>
        <p:nvSpPr>
          <p:cNvPr id="6" name="Text 4"/>
          <p:cNvSpPr/>
          <p:nvPr/>
        </p:nvSpPr>
        <p:spPr>
          <a:xfrm>
            <a:off x="1371600" y="3795713"/>
            <a:ext cx="4973293" cy="432420"/>
          </a:xfrm>
          <a:prstGeom prst="rect">
            <a:avLst/>
          </a:prstGeom>
          <a:noFill/>
          <a:ln/>
        </p:spPr>
        <p:txBody>
          <a:bodyPr wrap="square" lIns="25400" tIns="25400" rIns="25400" bIns="25400" rtlCol="0" anchor="t">
            <a:normAutofit/>
          </a:bodyPr>
          <a:lstStyle/>
          <a:p>
            <a:pPr algn="l" indent="0" marL="0">
              <a:lnSpc>
                <a:spcPct val="100976"/>
              </a:lnSpc>
              <a:buNone/>
            </a:pPr>
            <a:r>
              <a:rPr lang="en-US" sz="2700" b="1" spc="-54" kern="0" dirty="0">
                <a:solidFill>
                  <a:srgbClr val="FFFFFF"/>
                </a:solidFill>
                <a:latin typeface="Arial" pitchFamily="34" charset="0"/>
                <a:ea typeface="Arial" pitchFamily="34" charset="-122"/>
                <a:cs typeface="Arial" pitchFamily="34" charset="-120"/>
              </a:rPr>
              <a:t>Endorse the direction</a:t>
            </a:r>
            <a:endParaRPr lang="en-US" sz="2700" dirty="0"/>
          </a:p>
        </p:txBody>
      </p:sp>
      <p:sp>
        <p:nvSpPr>
          <p:cNvPr id="7" name="Text 5"/>
          <p:cNvSpPr/>
          <p:nvPr/>
        </p:nvSpPr>
        <p:spPr>
          <a:xfrm>
            <a:off x="1371600" y="4418633"/>
            <a:ext cx="4656810" cy="1040904"/>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BD5E1"/>
                </a:solidFill>
                <a:latin typeface="Arial" pitchFamily="34" charset="0"/>
                <a:ea typeface="Arial" pitchFamily="34" charset="-122"/>
                <a:cs typeface="Arial" pitchFamily="34" charset="-120"/>
              </a:rPr>
              <a:t>A unified DO App Support Center for the portfolio, built by extending our own Quackback fork.</a:t>
            </a:r>
            <a:endParaRPr lang="en-US" sz="1950" dirty="0"/>
          </a:p>
        </p:txBody>
      </p:sp>
      <p:sp>
        <p:nvSpPr>
          <p:cNvPr id="8" name="Shape 6"/>
          <p:cNvSpPr/>
          <p:nvPr/>
        </p:nvSpPr>
        <p:spPr>
          <a:xfrm>
            <a:off x="6502375" y="2662238"/>
            <a:ext cx="5283175" cy="6261795"/>
          </a:xfrm>
          <a:prstGeom prst="roundRect">
            <a:avLst>
              <a:gd name="adj" fmla="val 3606"/>
            </a:avLst>
          </a:prstGeom>
          <a:solidFill>
            <a:srgbClr val="1E293B"/>
          </a:solidFill>
          <a:ln/>
        </p:spPr>
      </p:sp>
      <p:sp>
        <p:nvSpPr>
          <p:cNvPr id="9" name="Text 7"/>
          <p:cNvSpPr/>
          <p:nvPr/>
        </p:nvSpPr>
        <p:spPr>
          <a:xfrm>
            <a:off x="6883375" y="3043238"/>
            <a:ext cx="4973293" cy="561975"/>
          </a:xfrm>
          <a:prstGeom prst="rect">
            <a:avLst/>
          </a:prstGeom>
          <a:noFill/>
          <a:ln/>
        </p:spPr>
        <p:txBody>
          <a:bodyPr wrap="square" lIns="25400" tIns="25400" rIns="25400" bIns="25400" rtlCol="0" anchor="t">
            <a:normAutofit/>
          </a:bodyPr>
          <a:lstStyle/>
          <a:p>
            <a:pPr algn="l" indent="0" marL="0">
              <a:buNone/>
            </a:pPr>
            <a:r>
              <a:rPr lang="en-US" sz="3600" b="1" spc="-72" kern="0" dirty="0">
                <a:solidFill>
                  <a:srgbClr val="A5B4FC"/>
                </a:solidFill>
                <a:latin typeface="Arial" pitchFamily="34" charset="0"/>
                <a:ea typeface="Arial" pitchFamily="34" charset="-122"/>
                <a:cs typeface="Arial" pitchFamily="34" charset="-120"/>
              </a:rPr>
              <a:t>2</a:t>
            </a:r>
            <a:endParaRPr lang="en-US" sz="3600" dirty="0"/>
          </a:p>
        </p:txBody>
      </p:sp>
      <p:sp>
        <p:nvSpPr>
          <p:cNvPr id="10" name="Text 8"/>
          <p:cNvSpPr/>
          <p:nvPr/>
        </p:nvSpPr>
        <p:spPr>
          <a:xfrm>
            <a:off x="6883375" y="3795713"/>
            <a:ext cx="4973293" cy="432420"/>
          </a:xfrm>
          <a:prstGeom prst="rect">
            <a:avLst/>
          </a:prstGeom>
          <a:noFill/>
          <a:ln/>
        </p:spPr>
        <p:txBody>
          <a:bodyPr wrap="square" lIns="25400" tIns="25400" rIns="25400" bIns="25400" rtlCol="0" anchor="t">
            <a:normAutofit/>
          </a:bodyPr>
          <a:lstStyle/>
          <a:p>
            <a:pPr algn="l" indent="0" marL="0">
              <a:lnSpc>
                <a:spcPct val="100976"/>
              </a:lnSpc>
              <a:buNone/>
            </a:pPr>
            <a:r>
              <a:rPr lang="en-US" sz="2700" b="1" spc="-54" kern="0" dirty="0">
                <a:solidFill>
                  <a:srgbClr val="FFFFFF"/>
                </a:solidFill>
                <a:latin typeface="Arial" pitchFamily="34" charset="0"/>
                <a:ea typeface="Arial" pitchFamily="34" charset="-122"/>
                <a:cs typeface="Arial" pitchFamily="34" charset="-120"/>
              </a:rPr>
              <a:t>Approve Phase 1 and a pilot</a:t>
            </a:r>
            <a:endParaRPr lang="en-US" sz="2700" dirty="0"/>
          </a:p>
        </p:txBody>
      </p:sp>
      <p:sp>
        <p:nvSpPr>
          <p:cNvPr id="11" name="Text 9"/>
          <p:cNvSpPr/>
          <p:nvPr/>
        </p:nvSpPr>
        <p:spPr>
          <a:xfrm>
            <a:off x="6883375" y="4418633"/>
            <a:ext cx="4656810" cy="1040904"/>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BD5E1"/>
                </a:solidFill>
                <a:latin typeface="Arial" pitchFamily="34" charset="0"/>
                <a:ea typeface="Arial" pitchFamily="34" charset="-122"/>
                <a:cs typeface="Arial" pitchFamily="34" charset="-120"/>
              </a:rPr>
              <a:t>Foundation work plus a pilot with selected applications, with baseline measurement included.</a:t>
            </a:r>
            <a:endParaRPr lang="en-US" sz="1950" dirty="0"/>
          </a:p>
        </p:txBody>
      </p:sp>
      <p:sp>
        <p:nvSpPr>
          <p:cNvPr id="12" name="Shape 10"/>
          <p:cNvSpPr/>
          <p:nvPr/>
        </p:nvSpPr>
        <p:spPr>
          <a:xfrm>
            <a:off x="12014150" y="2662238"/>
            <a:ext cx="5283250" cy="6261795"/>
          </a:xfrm>
          <a:prstGeom prst="roundRect">
            <a:avLst>
              <a:gd name="adj" fmla="val 3606"/>
            </a:avLst>
          </a:prstGeom>
          <a:solidFill>
            <a:srgbClr val="1E293B"/>
          </a:solidFill>
          <a:ln/>
        </p:spPr>
      </p:sp>
      <p:sp>
        <p:nvSpPr>
          <p:cNvPr id="13" name="Text 11"/>
          <p:cNvSpPr/>
          <p:nvPr/>
        </p:nvSpPr>
        <p:spPr>
          <a:xfrm>
            <a:off x="12395150" y="3043238"/>
            <a:ext cx="4973375" cy="561975"/>
          </a:xfrm>
          <a:prstGeom prst="rect">
            <a:avLst/>
          </a:prstGeom>
          <a:noFill/>
          <a:ln/>
        </p:spPr>
        <p:txBody>
          <a:bodyPr wrap="square" lIns="25400" tIns="25400" rIns="25400" bIns="25400" rtlCol="0" anchor="t">
            <a:normAutofit/>
          </a:bodyPr>
          <a:lstStyle/>
          <a:p>
            <a:pPr algn="l" indent="0" marL="0">
              <a:buNone/>
            </a:pPr>
            <a:r>
              <a:rPr lang="en-US" sz="3600" b="1" spc="-72" kern="0" dirty="0">
                <a:solidFill>
                  <a:srgbClr val="A5B4FC"/>
                </a:solidFill>
                <a:latin typeface="Arial" pitchFamily="34" charset="0"/>
                <a:ea typeface="Arial" pitchFamily="34" charset="-122"/>
                <a:cs typeface="Arial" pitchFamily="34" charset="-120"/>
              </a:rPr>
              <a:t>3</a:t>
            </a:r>
            <a:endParaRPr lang="en-US" sz="3600" dirty="0"/>
          </a:p>
        </p:txBody>
      </p:sp>
      <p:sp>
        <p:nvSpPr>
          <p:cNvPr id="14" name="Text 12"/>
          <p:cNvSpPr/>
          <p:nvPr/>
        </p:nvSpPr>
        <p:spPr>
          <a:xfrm>
            <a:off x="12395150" y="3795713"/>
            <a:ext cx="4973375" cy="432420"/>
          </a:xfrm>
          <a:prstGeom prst="rect">
            <a:avLst/>
          </a:prstGeom>
          <a:noFill/>
          <a:ln/>
        </p:spPr>
        <p:txBody>
          <a:bodyPr wrap="square" lIns="25400" tIns="25400" rIns="25400" bIns="25400" rtlCol="0" anchor="t">
            <a:normAutofit/>
          </a:bodyPr>
          <a:lstStyle/>
          <a:p>
            <a:pPr algn="l" indent="0" marL="0">
              <a:lnSpc>
                <a:spcPct val="100976"/>
              </a:lnSpc>
              <a:buNone/>
            </a:pPr>
            <a:r>
              <a:rPr lang="en-US" sz="2700" b="1" spc="-54" kern="0" dirty="0">
                <a:solidFill>
                  <a:srgbClr val="FFFFFF"/>
                </a:solidFill>
                <a:latin typeface="Arial" pitchFamily="34" charset="0"/>
                <a:ea typeface="Arial" pitchFamily="34" charset="-122"/>
                <a:cs typeface="Arial" pitchFamily="34" charset="-120"/>
              </a:rPr>
              <a:t>Assign ownership</a:t>
            </a:r>
            <a:endParaRPr lang="en-US" sz="2700" dirty="0"/>
          </a:p>
        </p:txBody>
      </p:sp>
      <p:sp>
        <p:nvSpPr>
          <p:cNvPr id="15" name="Text 13"/>
          <p:cNvSpPr/>
          <p:nvPr/>
        </p:nvSpPr>
        <p:spPr>
          <a:xfrm>
            <a:off x="12395150" y="4418633"/>
            <a:ext cx="4656887" cy="706636"/>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CBD5E1"/>
                </a:solidFill>
                <a:latin typeface="Arial" pitchFamily="34" charset="0"/>
                <a:ea typeface="Arial" pitchFamily="34" charset="-122"/>
                <a:cs typeface="Arial" pitchFamily="34" charset="-120"/>
              </a:rPr>
              <a:t>Named owners for platform, support, product, and each connected app.</a:t>
            </a:r>
            <a:endParaRPr lang="en-US" sz="1950" dirty="0"/>
          </a:p>
        </p:txBody>
      </p:sp>
      <p:sp>
        <p:nvSpPr>
          <p:cNvPr id="16" name="Text 14"/>
          <p:cNvSpPr/>
          <p:nvPr/>
        </p:nvSpPr>
        <p:spPr>
          <a:xfrm>
            <a:off x="990600" y="9266932"/>
            <a:ext cx="17937480" cy="372368"/>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94A3B8"/>
                </a:solidFill>
                <a:latin typeface="Arial" pitchFamily="34" charset="0"/>
                <a:ea typeface="Arial" pitchFamily="34" charset="-122"/>
                <a:cs typeface="Arial" pitchFamily="34" charset="-120"/>
              </a:rPr>
              <a:t>Remaining product decisions and delivery estimates return after the initial validations.</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2026-09-22T01:58:55Z</dcterms:created>
  <dcterms:modified xsi:type="dcterms:W3CDTF">2026-09-22T01:58:55Z</dcterms:modified>
</cp:coreProperties>
</file>